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147483629" r:id="rId2"/>
    <p:sldId id="2147483624" r:id="rId3"/>
    <p:sldId id="2147483637" r:id="rId4"/>
    <p:sldId id="2147483641" r:id="rId5"/>
    <p:sldId id="2147483638" r:id="rId6"/>
    <p:sldId id="2147483639" r:id="rId7"/>
    <p:sldId id="2147483640" r:id="rId8"/>
    <p:sldId id="2147483625" r:id="rId9"/>
    <p:sldId id="2147483632" r:id="rId10"/>
    <p:sldId id="2147483634" r:id="rId11"/>
    <p:sldId id="2147483636" r:id="rId12"/>
    <p:sldId id="2147483643" r:id="rId13"/>
    <p:sldId id="2147483633" r:id="rId14"/>
    <p:sldId id="2147483626" r:id="rId15"/>
    <p:sldId id="2147483627" r:id="rId16"/>
    <p:sldId id="2147483642" r:id="rId17"/>
    <p:sldId id="2147483630" r:id="rId18"/>
    <p:sldId id="2147483628" r:id="rId19"/>
    <p:sldId id="21474836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DF410-F4A0-4EF2-9EDE-0124335B1195}" type="datetimeFigureOut">
              <a:rPr lang="en-SG" smtClean="0"/>
              <a:t>7/9/2026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1FD6C-082E-4E68-94F6-5FA2F3F9AC1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176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CCE6-CE85-2C44-418C-796AFF14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DB539-B156-866B-DE91-02B626FED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E2484-71A1-3B74-E7B7-A801A2E48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BAC4A-5D77-7638-674D-EB98FAE05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1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6B3B8-BA0B-2074-D27B-54E24359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3BF72-A607-D27E-01F5-954A14F92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CAC3E-FC20-5A42-46FD-5FBD4288E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35137-21C4-9BAB-B09A-14E266267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241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05AF-65C4-FB3B-5DF6-44ACB392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C4C9F-50FF-50FF-AB26-A8526184B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17C82-D8AD-2AF7-7287-E27C906C9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BD74-2064-CF56-1A32-DB2982F1C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462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9ACB-1C42-D266-7CE0-3CD6305A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09BAB-A923-CF62-1144-FE0E371E0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36292-C407-0A86-B654-743F0B0BD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7C357-ACAD-6294-5ED8-2CC6B535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897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C3E8-9315-C030-C5A3-29595DB1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5302B-0357-C38E-DA9D-8C7EF4F0B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802B7-9DCA-E23A-F1DA-15555BBE5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B3C2F-41B3-212B-B060-12BC65166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636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141F-E5A1-A484-F576-9604CC1A8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5820A-9A31-5200-9201-4D9996F03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55354-AF04-87D2-3809-10CAC1EB4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AE713-2FD6-5AFC-4AD9-3E314AE6C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510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0897-C3F3-EB2D-A14E-405A4AB0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87559E-6E3B-DA14-92D3-D39141E44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774B2-1EA2-C9AB-2590-E5D76B30A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6C0B2-EA95-3D65-3548-4FED80C414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557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470E-4D8A-D39F-663C-E5C353B8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67240-D5FB-02A2-77E8-8AE0938F7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41783-354B-0D05-7439-290FC8371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8D73E-9980-F36F-3FF0-96C2DB602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159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55C1-77E2-8528-6557-9F5DC1D1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767DB-957B-5848-38AF-292FA779B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79CB5-F397-B8E9-2717-E181D93C7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FF45E-0C81-92DB-EE22-C82D43493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029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681A-C1E2-D1F5-287D-21EADC067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05612-AAA0-B494-14A6-DEB1C8EC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A93C7-A39E-EC31-A337-6D9E1D56F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84FA9-66EA-F040-C2EE-4EDEBBECB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818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681A-C1E2-D1F5-287D-21EADC067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05612-AAA0-B494-14A6-DEB1C8ECB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A93C7-A39E-EC31-A337-6D9E1D56F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84FA9-66EA-F040-C2EE-4EDEBBECB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01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B5FF6-8788-62C2-6BE7-2E9FFCC21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3A81A-2993-712D-8D41-F09769F22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EF92C-05FC-1CBB-42ED-273982AC0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4B665-7577-3FFA-BE82-55E8CED55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67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2AE3-78C3-C0F9-0650-736136CA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6A900-E12A-6AC4-36C0-5EF3B4E5B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6BB09-FD3F-D8FC-247C-B26F86D22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69CFA-A1DC-3877-6C8B-2F909B0A6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577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3DDAF-4E25-1C7B-1B3F-5B50E322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34241-39DE-E1E1-C505-ED51C9720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6E132-382C-0908-0B2C-8D328965A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10115-BD2C-42D3-745A-850B6F562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61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1078-E9AF-BE31-38EA-5135CCF4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67CCC-E728-92F9-1153-009FA7C9E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5F011-4DED-839C-DCF5-852145875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C9CA3-3293-E96C-C89E-41668845DD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46484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7670-5F61-E1CA-6EE7-FB95FE7E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B2184-B22E-B3C7-F7DB-5810C5E19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B2D4C-ECCA-DA88-8927-335C1B9B3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CC056-A0C0-045A-DDB5-B46F27BC3B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126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036E2-3685-357A-7ACE-54B6E4F86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77BED-032F-E14A-419E-09F90F1FD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EC818-44B7-E0A1-CFB9-5A27402A4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2663-234E-E33B-EC57-E0C978BCD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370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63FF-595C-E562-FDA6-6B7989F0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70E06-B9DF-945A-3697-FB22E2523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9AD82-A9DE-FF9B-3D91-E920FDFAF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9C325-944D-EA99-0D15-007EE504E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11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90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D5290-FCBF-9A38-8D77-D9C5630CE30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65825" y="6703060"/>
            <a:ext cx="27622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194680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media/ppt/media/image33.png"/>
          <p:cNvPicPr>
            <a:picLocks noChangeAspect="1"/>
          </p:cNvPicPr>
          <p:nvPr/>
        </p:nvPicPr>
        <p:blipFill>
          <a:blip r:embed="rId3"/>
          <a:srcRect l="31000" r="31860"/>
          <a:stretch/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26280" y="0"/>
            <a:ext cx="73152" cy="6858000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4" name="Image 1" descr="/mnt/data/ppt_media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92040" y="38404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 Benefits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892040" y="987552"/>
            <a:ext cx="914400" cy="45720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4892040" y="1115568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operations, real-time visibility, digitized workflows and AI-led decision support for airport operations.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892040" y="1837944"/>
            <a:ext cx="73152" cy="1014984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56632" y="18105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47488" y="2084832"/>
            <a:ext cx="345116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</a:t>
            </a: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ontrol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of the</a:t>
            </a: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entire operation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663246" y="1837944"/>
            <a:ext cx="73152" cy="918972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827838" y="181051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Faster incident response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827838" y="2116836"/>
            <a:ext cx="3072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Alarms, alerts and SOPs move through defined escalation workflows with clear ownership – safety , maintenance , fault to reduce the downtime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892040" y="3154679"/>
            <a:ext cx="73152" cy="850393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56632" y="31272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Dashboards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056632" y="3419856"/>
            <a:ext cx="3072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IPOC will summaries many operational data points pertaining to Energy , Water , , terminal , airside and landside operation 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663246" y="3154680"/>
            <a:ext cx="73152" cy="76809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827838" y="312724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KPI’s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827838" y="3364782"/>
            <a:ext cx="3072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Important Key Performance indicators are tracked with IPOC to monitor the operational efficiencies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892040" y="4471416"/>
            <a:ext cx="73152" cy="76809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066792" y="44439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Maintenance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066792" y="4718304"/>
            <a:ext cx="3072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All connected asset are monitor in real time and alarm and alerts are escalated to maintenance team and tracked digitally till the closer to achieved SLA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8663246" y="4471416"/>
            <a:ext cx="73152" cy="76809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827838" y="444398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Future-ready AI foundation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8827838" y="4713732"/>
            <a:ext cx="3072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Connected data supports KPI governance, predictive insights and better planning. AI foundation will be able to suggest energy , water saving strategies and also asset failure predication, asset health visibility  to reduce the operational costs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892040" y="6199632"/>
            <a:ext cx="68122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C13D80F3-4ACE-0A8B-D2C0-7AFF45E0CE41}"/>
              </a:ext>
            </a:extLst>
          </p:cNvPr>
          <p:cNvSpPr/>
          <p:nvPr/>
        </p:nvSpPr>
        <p:spPr>
          <a:xfrm>
            <a:off x="4965192" y="5821281"/>
            <a:ext cx="6976241" cy="62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SG" sz="1400" b="1" dirty="0">
                <a:solidFill>
                  <a:srgbClr val="7A7D81"/>
                </a:solidFill>
                <a:latin typeface="Arial" pitchFamily="34" charset="0"/>
                <a:cs typeface="Arial" pitchFamily="34" charset="-120"/>
              </a:rPr>
              <a:t>The proposed outcomes listed below are examples and are subject to the availability of data from the integrated systems. These projections may change after a detailed study of the underlying systems and confirmation from the respective vendors on dataset availability.</a:t>
            </a:r>
            <a:endParaRPr lang="en-US" sz="1400" dirty="0">
              <a:solidFill>
                <a:prstClr val="black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96385-B729-D57B-530C-E4E8FB35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4457CDDD-E430-4C27-993D-7CBB1B926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F741B4D9-2CC4-0FC8-00D9-F0DD6ECB4F55}"/>
              </a:ext>
            </a:extLst>
          </p:cNvPr>
          <p:cNvSpPr/>
          <p:nvPr/>
        </p:nvSpPr>
        <p:spPr>
          <a:xfrm>
            <a:off x="132203" y="109196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0E22378-578E-08AE-5568-CCBB6CE6A8FD}"/>
              </a:ext>
            </a:extLst>
          </p:cNvPr>
          <p:cNvSpPr/>
          <p:nvPr/>
        </p:nvSpPr>
        <p:spPr>
          <a:xfrm>
            <a:off x="311912" y="1097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2B907BA-2CAC-EB8B-632B-BC34647C75E6}"/>
              </a:ext>
            </a:extLst>
          </p:cNvPr>
          <p:cNvSpPr/>
          <p:nvPr/>
        </p:nvSpPr>
        <p:spPr>
          <a:xfrm>
            <a:off x="280548" y="375521"/>
            <a:ext cx="118334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Control of the entire operation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74585-EB01-F76C-EC50-2E861603F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1" y="1435237"/>
            <a:ext cx="2484456" cy="18441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752918-C923-B53C-8DAE-68ECE3F5D6EE}"/>
              </a:ext>
            </a:extLst>
          </p:cNvPr>
          <p:cNvSpPr txBox="1"/>
          <p:nvPr/>
        </p:nvSpPr>
        <p:spPr>
          <a:xfrm>
            <a:off x="-174767" y="3279405"/>
            <a:ext cx="2822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Unified Airside Ops- AGL, VGDS, PBB</a:t>
            </a:r>
            <a:endParaRPr lang="en-SG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16B8F-1F6C-2CFC-A4D4-9F94F49CA94A}"/>
              </a:ext>
            </a:extLst>
          </p:cNvPr>
          <p:cNvSpPr txBox="1"/>
          <p:nvPr/>
        </p:nvSpPr>
        <p:spPr>
          <a:xfrm>
            <a:off x="345421" y="776799"/>
            <a:ext cx="195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AIRSIDE OPERATION CONSOLE </a:t>
            </a:r>
            <a:endParaRPr lang="en-SG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C6A75-FEAE-4710-04B0-A2886F2FAE58}"/>
              </a:ext>
            </a:extLst>
          </p:cNvPr>
          <p:cNvSpPr txBox="1"/>
          <p:nvPr/>
        </p:nvSpPr>
        <p:spPr>
          <a:xfrm>
            <a:off x="2962940" y="753948"/>
            <a:ext cx="2160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TERMINAL OPERATION CONSOLE </a:t>
            </a:r>
            <a:endParaRPr lang="en-SG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EDCA5-4784-E62B-E150-29F046951501}"/>
              </a:ext>
            </a:extLst>
          </p:cNvPr>
          <p:cNvSpPr txBox="1"/>
          <p:nvPr/>
        </p:nvSpPr>
        <p:spPr>
          <a:xfrm>
            <a:off x="5558902" y="776799"/>
            <a:ext cx="2160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LANDSIDE OPERATION CONSOLE 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E302D-4D92-57D0-CC3B-04B74F76424B}"/>
              </a:ext>
            </a:extLst>
          </p:cNvPr>
          <p:cNvSpPr txBox="1"/>
          <p:nvPr/>
        </p:nvSpPr>
        <p:spPr>
          <a:xfrm>
            <a:off x="8027323" y="793985"/>
            <a:ext cx="2243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SAFETY SECURITY OPERATION CONSOLE </a:t>
            </a:r>
            <a:endParaRPr lang="en-SG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BBE7D-AC56-4C59-FCA8-63307036101E}"/>
              </a:ext>
            </a:extLst>
          </p:cNvPr>
          <p:cNvSpPr txBox="1"/>
          <p:nvPr/>
        </p:nvSpPr>
        <p:spPr>
          <a:xfrm>
            <a:off x="10132829" y="776799"/>
            <a:ext cx="1981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MAINTENANCE CONSOLE </a:t>
            </a:r>
            <a:endParaRPr lang="en-SG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32F4E5-A9C1-87CC-4C72-EE63269C9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" y="3649038"/>
            <a:ext cx="11991512" cy="30992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0353DD-DB87-98D5-E0C1-C6A928E9FF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7" y="1435237"/>
            <a:ext cx="2468421" cy="1845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5F5292-14D7-79CA-E814-41EDDBF1BE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91" y="1432922"/>
            <a:ext cx="2530983" cy="18453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8EC4BB-3FB1-2595-6B3B-B203A2C9D0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816" y="1415736"/>
            <a:ext cx="2243967" cy="18428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0CFC953-E7FB-ADD3-0EB1-814B702920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571" y="1387679"/>
            <a:ext cx="2067381" cy="182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6F222-CBFC-1388-ACE1-5BAA67E8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41429912-9AB8-7A47-EC88-9D58B92BE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BCDA3631-35FC-4043-0C6F-7FA41D9B061D}"/>
              </a:ext>
            </a:extLst>
          </p:cNvPr>
          <p:cNvSpPr/>
          <p:nvPr/>
        </p:nvSpPr>
        <p:spPr>
          <a:xfrm>
            <a:off x="132203" y="109196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C6CF620-5651-8FB9-32CE-5E0FED14168F}"/>
              </a:ext>
            </a:extLst>
          </p:cNvPr>
          <p:cNvSpPr/>
          <p:nvPr/>
        </p:nvSpPr>
        <p:spPr>
          <a:xfrm>
            <a:off x="311912" y="1097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3515C69-AABA-2AAE-06BE-8534B6B3FC01}"/>
              </a:ext>
            </a:extLst>
          </p:cNvPr>
          <p:cNvSpPr/>
          <p:nvPr/>
        </p:nvSpPr>
        <p:spPr>
          <a:xfrm>
            <a:off x="3505377" y="109196"/>
            <a:ext cx="7655008" cy="1835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Control of the entire operation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7CA8B5-F343-0B69-2994-B430ADD1C32D}"/>
              </a:ext>
            </a:extLst>
          </p:cNvPr>
          <p:cNvSpPr txBox="1"/>
          <p:nvPr/>
        </p:nvSpPr>
        <p:spPr>
          <a:xfrm>
            <a:off x="3904710" y="465606"/>
            <a:ext cx="3867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AIRSIDE OPERATION CONSOLE 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DA168-F759-F152-FF84-F734050EA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85" y="797773"/>
            <a:ext cx="10573044" cy="595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5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21DC9-2FCE-23B0-0CAD-D053B0D2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5925698A-80C3-D4D5-C58D-7BC5C66D1CFD}"/>
              </a:ext>
            </a:extLst>
          </p:cNvPr>
          <p:cNvSpPr/>
          <p:nvPr/>
        </p:nvSpPr>
        <p:spPr>
          <a:xfrm>
            <a:off x="132203" y="109196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CD22C0C-850D-FB3E-84F2-6020C74E5BDA}"/>
              </a:ext>
            </a:extLst>
          </p:cNvPr>
          <p:cNvSpPr/>
          <p:nvPr/>
        </p:nvSpPr>
        <p:spPr>
          <a:xfrm>
            <a:off x="311912" y="1097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EF46F0A-8F10-0154-7E12-90AB3432D6A0}"/>
              </a:ext>
            </a:extLst>
          </p:cNvPr>
          <p:cNvSpPr/>
          <p:nvPr/>
        </p:nvSpPr>
        <p:spPr>
          <a:xfrm>
            <a:off x="3427839" y="141466"/>
            <a:ext cx="7325909" cy="2422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Control of the entire operation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85D4A-369E-305E-D06E-5AC9BAA47308}"/>
              </a:ext>
            </a:extLst>
          </p:cNvPr>
          <p:cNvSpPr txBox="1"/>
          <p:nvPr/>
        </p:nvSpPr>
        <p:spPr>
          <a:xfrm>
            <a:off x="3427839" y="586233"/>
            <a:ext cx="4496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TERMINAL OPERATION CONSOLE 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114D9-7AD8-B6F0-C2E0-67DC99FDF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20" y="855884"/>
            <a:ext cx="10664760" cy="600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69708-403E-9811-D735-E28E807D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40DEE2C5-2FE8-8669-FE65-9066E13196B9}"/>
              </a:ext>
            </a:extLst>
          </p:cNvPr>
          <p:cNvSpPr/>
          <p:nvPr/>
        </p:nvSpPr>
        <p:spPr>
          <a:xfrm>
            <a:off x="132203" y="76538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BC21FDD-DC86-5CAE-F821-31A403D5F2CF}"/>
              </a:ext>
            </a:extLst>
          </p:cNvPr>
          <p:cNvSpPr/>
          <p:nvPr/>
        </p:nvSpPr>
        <p:spPr>
          <a:xfrm>
            <a:off x="311912" y="7339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2FDC2A6-C79C-7A47-C78F-89B103C2933B}"/>
              </a:ext>
            </a:extLst>
          </p:cNvPr>
          <p:cNvSpPr/>
          <p:nvPr/>
        </p:nvSpPr>
        <p:spPr>
          <a:xfrm>
            <a:off x="3384296" y="83595"/>
            <a:ext cx="7980390" cy="2495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Control of the entire operation 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AA64A-683E-0FDD-E4B0-4EB243E1DCA5}"/>
              </a:ext>
            </a:extLst>
          </p:cNvPr>
          <p:cNvSpPr txBox="1"/>
          <p:nvPr/>
        </p:nvSpPr>
        <p:spPr>
          <a:xfrm>
            <a:off x="3813593" y="466011"/>
            <a:ext cx="4325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LANDSIDE OPERATION CONSOLE </a:t>
            </a:r>
            <a:endParaRPr lang="en-SG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86ED9-9E7A-E80A-D1E0-AA33446DC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19" y="731841"/>
            <a:ext cx="10885162" cy="612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1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70B5C-A0B0-F775-F39D-439C0755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65F9A63F-D263-119A-FD0B-E1786172199C}"/>
              </a:ext>
            </a:extLst>
          </p:cNvPr>
          <p:cNvSpPr/>
          <p:nvPr/>
        </p:nvSpPr>
        <p:spPr>
          <a:xfrm>
            <a:off x="132203" y="109196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2BE86BB-7793-6AFA-12C8-2E9D71D34A46}"/>
              </a:ext>
            </a:extLst>
          </p:cNvPr>
          <p:cNvSpPr/>
          <p:nvPr/>
        </p:nvSpPr>
        <p:spPr>
          <a:xfrm>
            <a:off x="311912" y="1097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17781A8-39EE-7D71-1239-2FB087ED6B11}"/>
              </a:ext>
            </a:extLst>
          </p:cNvPr>
          <p:cNvSpPr/>
          <p:nvPr/>
        </p:nvSpPr>
        <p:spPr>
          <a:xfrm>
            <a:off x="3505377" y="109196"/>
            <a:ext cx="7761337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Control of the entire operation 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E58C4-2DFA-91E2-559E-7D91BAF4D55C}"/>
              </a:ext>
            </a:extLst>
          </p:cNvPr>
          <p:cNvSpPr txBox="1"/>
          <p:nvPr/>
        </p:nvSpPr>
        <p:spPr>
          <a:xfrm>
            <a:off x="3384296" y="523796"/>
            <a:ext cx="4164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SAFETY SECURITY OPERATION CONSOLE 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A4310-DD7B-A6B8-11FF-A2F6511F2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24" y="791680"/>
            <a:ext cx="11145352" cy="60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4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0B9A1-8A91-5F6A-24C1-0FCCD0A1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6485BED6-5848-93E5-58CA-9EAE4DA34F77}"/>
              </a:ext>
            </a:extLst>
          </p:cNvPr>
          <p:cNvSpPr/>
          <p:nvPr/>
        </p:nvSpPr>
        <p:spPr>
          <a:xfrm>
            <a:off x="132203" y="109196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64D142B-1E81-AE9E-707B-23E8DC53B928}"/>
              </a:ext>
            </a:extLst>
          </p:cNvPr>
          <p:cNvSpPr/>
          <p:nvPr/>
        </p:nvSpPr>
        <p:spPr>
          <a:xfrm>
            <a:off x="311912" y="10972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UNIFIED AIRPORT  OPERATION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1453A39-4FD3-8A88-51D3-BB167788E510}"/>
              </a:ext>
            </a:extLst>
          </p:cNvPr>
          <p:cNvSpPr/>
          <p:nvPr/>
        </p:nvSpPr>
        <p:spPr>
          <a:xfrm>
            <a:off x="3505377" y="152056"/>
            <a:ext cx="8374711" cy="23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Airside, terminal, landside, safety and maintenance teams work from a centralized control room for Monitoring and  Control of the entire operation 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F54DDA-4706-93BB-CF75-ECE22648CAE6}"/>
              </a:ext>
            </a:extLst>
          </p:cNvPr>
          <p:cNvSpPr txBox="1"/>
          <p:nvPr/>
        </p:nvSpPr>
        <p:spPr>
          <a:xfrm>
            <a:off x="2743201" y="519323"/>
            <a:ext cx="5865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MAINTENANCE CONSOLE </a:t>
            </a:r>
            <a:endParaRPr lang="en-SG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EAE0E5-B12D-4A68-09DB-8EB4E33AC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3" y="827100"/>
            <a:ext cx="11459418" cy="59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2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FFB0D-5B43-B228-3FD4-A2EA09D6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9451F08F-E08B-7876-28C0-27AAB829DC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EFD13FE-3C7D-BE94-36A4-7F2D7C5ACAF1}"/>
              </a:ext>
            </a:extLst>
          </p:cNvPr>
          <p:cNvSpPr/>
          <p:nvPr/>
        </p:nvSpPr>
        <p:spPr>
          <a:xfrm>
            <a:off x="340738" y="7339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Faster incident response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2FF224F-F2E3-80B9-2E95-9B7C4A3CAEF4}"/>
              </a:ext>
            </a:extLst>
          </p:cNvPr>
          <p:cNvSpPr/>
          <p:nvPr/>
        </p:nvSpPr>
        <p:spPr>
          <a:xfrm>
            <a:off x="340737" y="347714"/>
            <a:ext cx="10803723" cy="37954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Alarms, alerts and SOPs move through defined escalation workflows with clear ownership – safety , maintenance , fault to reduce the downtime </a:t>
            </a:r>
          </a:p>
        </p:txBody>
      </p:sp>
      <p:pic>
        <p:nvPicPr>
          <p:cNvPr id="2" name="AGL_Alarm_Escalation_Mobile_Supervisor_Clean">
            <a:hlinkClick r:id="" action="ppaction://media"/>
            <a:extLst>
              <a:ext uri="{FF2B5EF4-FFF2-40B4-BE49-F238E27FC236}">
                <a16:creationId xmlns:a16="http://schemas.microsoft.com/office/drawing/2014/main" id="{189CCB79-FF36-4234-A005-26B7C06AB4C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0831" y="1979519"/>
            <a:ext cx="5850775" cy="4063705"/>
          </a:xfrm>
          <a:prstGeom prst="rect">
            <a:avLst/>
          </a:prstGeom>
        </p:spPr>
      </p:pic>
      <p:pic>
        <p:nvPicPr>
          <p:cNvPr id="3" name="Safety_Security_Use_Case_80sec_Redo">
            <a:hlinkClick r:id="" action="ppaction://media"/>
            <a:extLst>
              <a:ext uri="{FF2B5EF4-FFF2-40B4-BE49-F238E27FC236}">
                <a16:creationId xmlns:a16="http://schemas.microsoft.com/office/drawing/2014/main" id="{07969ED8-F84A-D92B-B3FD-2A6EED2A3D2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096000" y="1979519"/>
            <a:ext cx="5940025" cy="40637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FF5122-8C4B-8A40-B391-CB48C3ABA74B}"/>
              </a:ext>
            </a:extLst>
          </p:cNvPr>
          <p:cNvSpPr txBox="1"/>
          <p:nvPr/>
        </p:nvSpPr>
        <p:spPr>
          <a:xfrm>
            <a:off x="6913643" y="1232343"/>
            <a:ext cx="423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Safety incidence management 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CF18A-0842-C2C5-752B-F4C77E73C84E}"/>
              </a:ext>
            </a:extLst>
          </p:cNvPr>
          <p:cNvSpPr txBox="1"/>
          <p:nvPr/>
        </p:nvSpPr>
        <p:spPr>
          <a:xfrm>
            <a:off x="531667" y="1217711"/>
            <a:ext cx="4230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Asset Failure  incidence management </a:t>
            </a:r>
            <a:endParaRPr lang="en-SG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6D64EEC-B974-4675-FB6B-F2B2473EA066}"/>
              </a:ext>
            </a:extLst>
          </p:cNvPr>
          <p:cNvSpPr/>
          <p:nvPr/>
        </p:nvSpPr>
        <p:spPr>
          <a:xfrm>
            <a:off x="132203" y="109196"/>
            <a:ext cx="58628" cy="477037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24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5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7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CED5C-BBCB-5935-C04C-0FCB99D5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41BB65B0-7201-2BAC-4326-24C8E2843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17" name="Shape 13">
            <a:extLst>
              <a:ext uri="{FF2B5EF4-FFF2-40B4-BE49-F238E27FC236}">
                <a16:creationId xmlns:a16="http://schemas.microsoft.com/office/drawing/2014/main" id="{B8B936D7-D19F-7453-B836-A9C8F764D83A}"/>
              </a:ext>
            </a:extLst>
          </p:cNvPr>
          <p:cNvSpPr/>
          <p:nvPr/>
        </p:nvSpPr>
        <p:spPr>
          <a:xfrm>
            <a:off x="431799" y="127000"/>
            <a:ext cx="45719" cy="43652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84DFA8DD-F130-65B7-D40F-2631F8AEDB63}"/>
              </a:ext>
            </a:extLst>
          </p:cNvPr>
          <p:cNvSpPr/>
          <p:nvPr/>
        </p:nvSpPr>
        <p:spPr>
          <a:xfrm>
            <a:off x="613941" y="70943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Dashboards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701BDEA-3D8F-E7DF-C328-96489D196226}"/>
              </a:ext>
            </a:extLst>
          </p:cNvPr>
          <p:cNvSpPr/>
          <p:nvPr/>
        </p:nvSpPr>
        <p:spPr>
          <a:xfrm>
            <a:off x="613941" y="344192"/>
            <a:ext cx="97335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IPOC will summaries many operational data points pertaining to Energy , Water ,  terminal , airside and landside operation 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C16873-2D00-1790-4FF3-949E8DC3F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9" y="1142704"/>
            <a:ext cx="5036591" cy="24665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3BFD76-7BB3-90E6-E1B4-84189BDC6D1F}"/>
              </a:ext>
            </a:extLst>
          </p:cNvPr>
          <p:cNvSpPr txBox="1"/>
          <p:nvPr/>
        </p:nvSpPr>
        <p:spPr>
          <a:xfrm>
            <a:off x="5920509" y="1111999"/>
            <a:ext cx="50365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Shows total energy use, load factor, and per-passenger-km efficiency, broken down by grid/solar/wind sources and efficiency initiatives like LED and smart HVAC upgrades.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A298BCE-78DE-1B7A-7176-03C298818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12" y="3765628"/>
            <a:ext cx="5072578" cy="2690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3DFB30-895A-B7B6-B25D-633CE9F696D3}"/>
              </a:ext>
            </a:extLst>
          </p:cNvPr>
          <p:cNvSpPr txBox="1"/>
          <p:nvPr/>
        </p:nvSpPr>
        <p:spPr>
          <a:xfrm>
            <a:off x="5920509" y="3765628"/>
            <a:ext cx="51476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Dashboard shows real-time energy flow, facility-wise performance distribution, system health by category, and progress toward carbon, renewable, and water conservation targets.</a:t>
            </a:r>
          </a:p>
        </p:txBody>
      </p:sp>
    </p:spTree>
    <p:extLst>
      <p:ext uri="{BB962C8B-B14F-4D97-AF65-F5344CB8AC3E}">
        <p14:creationId xmlns:p14="http://schemas.microsoft.com/office/powerpoint/2010/main" val="239519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016C1-3D7B-BC86-3CF6-0D3648AE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1B9EF666-2487-D5E4-04C5-A99551C9B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17" name="Shape 13">
            <a:extLst>
              <a:ext uri="{FF2B5EF4-FFF2-40B4-BE49-F238E27FC236}">
                <a16:creationId xmlns:a16="http://schemas.microsoft.com/office/drawing/2014/main" id="{54D6F7DC-EBD6-6675-9AA3-77ADBA91D493}"/>
              </a:ext>
            </a:extLst>
          </p:cNvPr>
          <p:cNvSpPr/>
          <p:nvPr/>
        </p:nvSpPr>
        <p:spPr>
          <a:xfrm>
            <a:off x="431799" y="127000"/>
            <a:ext cx="45719" cy="43652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005B119-054D-AF6F-2E52-7276CFE26C90}"/>
              </a:ext>
            </a:extLst>
          </p:cNvPr>
          <p:cNvSpPr/>
          <p:nvPr/>
        </p:nvSpPr>
        <p:spPr>
          <a:xfrm>
            <a:off x="613941" y="70943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Dashboards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8A3CAF5-1142-9539-0737-A4050A4E3610}"/>
              </a:ext>
            </a:extLst>
          </p:cNvPr>
          <p:cNvSpPr/>
          <p:nvPr/>
        </p:nvSpPr>
        <p:spPr>
          <a:xfrm>
            <a:off x="613941" y="344192"/>
            <a:ext cx="97335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IPOC will summaries many operational data points pertaining to Energy , Water , , terminal , airside and landside operation 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71C933-BC06-BEA6-C0E8-5C538E3DF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9" y="836775"/>
            <a:ext cx="5405182" cy="25849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323BF8-11D4-A7EA-0B76-339B9919B39B}"/>
              </a:ext>
            </a:extLst>
          </p:cNvPr>
          <p:cNvSpPr txBox="1"/>
          <p:nvPr/>
        </p:nvSpPr>
        <p:spPr>
          <a:xfrm>
            <a:off x="6096000" y="836775"/>
            <a:ext cx="51476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Combines an actual-vs-predicted energy forecast and efficiency trend with AI-generated insights (demand spikes, HVAC failure risk, cost optimization) and an anomaly detection feed flagging equipment and power quality issues.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48353-FA7B-0BF9-71DD-5C18D565F0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9" y="3694926"/>
            <a:ext cx="5405181" cy="2931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18E66-BAEA-02FE-2F9A-5BDAD920050D}"/>
              </a:ext>
            </a:extLst>
          </p:cNvPr>
          <p:cNvSpPr txBox="1"/>
          <p:nvPr/>
        </p:nvSpPr>
        <p:spPr>
          <a:xfrm>
            <a:off x="6178004" y="3678977"/>
            <a:ext cx="4983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Full building HVAC component tree and flow diagram showing live status of chillers, cooling towers, pumps, and air handling units, alongside overall building system health and active alerts.</a:t>
            </a:r>
          </a:p>
        </p:txBody>
      </p:sp>
    </p:spTree>
    <p:extLst>
      <p:ext uri="{BB962C8B-B14F-4D97-AF65-F5344CB8AC3E}">
        <p14:creationId xmlns:p14="http://schemas.microsoft.com/office/powerpoint/2010/main" val="1062955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49CB7-E764-0B74-3F77-2FA7621DD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3">
            <a:extLst>
              <a:ext uri="{FF2B5EF4-FFF2-40B4-BE49-F238E27FC236}">
                <a16:creationId xmlns:a16="http://schemas.microsoft.com/office/drawing/2014/main" id="{EB6AEB45-BB76-BCA7-111C-793E47FF7EEF}"/>
              </a:ext>
            </a:extLst>
          </p:cNvPr>
          <p:cNvSpPr/>
          <p:nvPr/>
        </p:nvSpPr>
        <p:spPr>
          <a:xfrm>
            <a:off x="431799" y="127000"/>
            <a:ext cx="45719" cy="43652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C534B33-FF60-854E-8A49-E79411C5415B}"/>
              </a:ext>
            </a:extLst>
          </p:cNvPr>
          <p:cNvSpPr/>
          <p:nvPr/>
        </p:nvSpPr>
        <p:spPr>
          <a:xfrm>
            <a:off x="613941" y="70943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Dashboards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4F092E2-AE87-FEC0-1E75-D038015A4862}"/>
              </a:ext>
            </a:extLst>
          </p:cNvPr>
          <p:cNvSpPr/>
          <p:nvPr/>
        </p:nvSpPr>
        <p:spPr>
          <a:xfrm>
            <a:off x="613941" y="344192"/>
            <a:ext cx="97335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IPOC will summaries many operational data points pertaining to Energy , Water , , terminal , airside and landside operation 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B3337-78A7-F897-F392-47D065DDB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41" y="1550328"/>
            <a:ext cx="6083345" cy="3380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FBBF49-0149-5A58-415A-AFA5F43933C2}"/>
              </a:ext>
            </a:extLst>
          </p:cNvPr>
          <p:cNvSpPr txBox="1"/>
          <p:nvPr/>
        </p:nvSpPr>
        <p:spPr>
          <a:xfrm>
            <a:off x="7605484" y="2681244"/>
            <a:ext cx="4413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Tracks water metrics with a 7-day AI consumption forecast and tank level monitoring across buildings.</a:t>
            </a:r>
          </a:p>
        </p:txBody>
      </p:sp>
    </p:spTree>
    <p:extLst>
      <p:ext uri="{BB962C8B-B14F-4D97-AF65-F5344CB8AC3E}">
        <p14:creationId xmlns:p14="http://schemas.microsoft.com/office/powerpoint/2010/main" val="1403967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49CB7-E764-0B74-3F77-2FA7621DD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3">
            <a:extLst>
              <a:ext uri="{FF2B5EF4-FFF2-40B4-BE49-F238E27FC236}">
                <a16:creationId xmlns:a16="http://schemas.microsoft.com/office/drawing/2014/main" id="{EB6AEB45-BB76-BCA7-111C-793E47FF7EEF}"/>
              </a:ext>
            </a:extLst>
          </p:cNvPr>
          <p:cNvSpPr/>
          <p:nvPr/>
        </p:nvSpPr>
        <p:spPr>
          <a:xfrm>
            <a:off x="431799" y="127000"/>
            <a:ext cx="45719" cy="43652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C534B33-FF60-854E-8A49-E79411C5415B}"/>
              </a:ext>
            </a:extLst>
          </p:cNvPr>
          <p:cNvSpPr/>
          <p:nvPr/>
        </p:nvSpPr>
        <p:spPr>
          <a:xfrm>
            <a:off x="613941" y="70943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00" b="1" dirty="0">
                <a:solidFill>
                  <a:srgbClr val="1D1D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Dashboards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4F092E2-AE87-FEC0-1E75-D038015A4862}"/>
              </a:ext>
            </a:extLst>
          </p:cNvPr>
          <p:cNvSpPr/>
          <p:nvPr/>
        </p:nvSpPr>
        <p:spPr>
          <a:xfrm>
            <a:off x="613941" y="344192"/>
            <a:ext cx="97335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IPOC will summaries many operational data points pertaining to Energy , Water , , terminal , airside and landside operation  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4F0F4-B509-D86A-2D31-515DA68CA1CE}"/>
              </a:ext>
            </a:extLst>
          </p:cNvPr>
          <p:cNvSpPr txBox="1"/>
          <p:nvPr/>
        </p:nvSpPr>
        <p:spPr>
          <a:xfrm>
            <a:off x="3156857" y="707095"/>
            <a:ext cx="456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of Monitoring building Operation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94770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64E83-6245-5BB1-BB14-11A02738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A2E154A5-8578-9EC7-E304-1072E0052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17" name="Shape 13">
            <a:extLst>
              <a:ext uri="{FF2B5EF4-FFF2-40B4-BE49-F238E27FC236}">
                <a16:creationId xmlns:a16="http://schemas.microsoft.com/office/drawing/2014/main" id="{667E6B5C-E427-D36B-3A29-CF5D62690EB0}"/>
              </a:ext>
            </a:extLst>
          </p:cNvPr>
          <p:cNvSpPr/>
          <p:nvPr/>
        </p:nvSpPr>
        <p:spPr>
          <a:xfrm>
            <a:off x="431799" y="127000"/>
            <a:ext cx="45719" cy="43652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F24DE79-BDB7-0FB5-5094-3914E7DF94F1}"/>
              </a:ext>
            </a:extLst>
          </p:cNvPr>
          <p:cNvSpPr/>
          <p:nvPr/>
        </p:nvSpPr>
        <p:spPr>
          <a:xfrm>
            <a:off x="596392" y="995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KPI’s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4E50884B-E830-2015-F8C8-28A06C827EF5}"/>
              </a:ext>
            </a:extLst>
          </p:cNvPr>
          <p:cNvSpPr/>
          <p:nvPr/>
        </p:nvSpPr>
        <p:spPr>
          <a:xfrm>
            <a:off x="596391" y="372392"/>
            <a:ext cx="10121227" cy="3786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Important Key Performance indicators are tracked with IPOC to monitor the operational efficiencies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B2399D-2FA3-E82D-4155-DA345A450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61" y="3918949"/>
            <a:ext cx="6257404" cy="28120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184F4A-F1F9-7BA7-EEE8-ABF984CDE229}"/>
              </a:ext>
            </a:extLst>
          </p:cNvPr>
          <p:cNvSpPr txBox="1"/>
          <p:nvPr/>
        </p:nvSpPr>
        <p:spPr>
          <a:xfrm>
            <a:off x="7271363" y="4335862"/>
            <a:ext cx="4548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IPOC platform, monitors the health of core airport systems like PBB, VDGS, BHS, and PCDS with live uptime, response time, throughput, and error rate metrics.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157EF-E0F5-573E-7361-BB51773FEA7A}"/>
              </a:ext>
            </a:extLst>
          </p:cNvPr>
          <p:cNvSpPr txBox="1"/>
          <p:nvPr/>
        </p:nvSpPr>
        <p:spPr>
          <a:xfrm>
            <a:off x="7123814" y="1044811"/>
            <a:ext cx="46355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This U-APOC platform, uses AI to track live terminal efficiency, passenger journey time, active passengers, and biometric success, with a real-time congestion map across security, immigration, duty-free, and baggage zones.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6F73DA-8B76-31C3-FCE1-F8769D6D2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61" y="836350"/>
            <a:ext cx="6393920" cy="299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80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8BE80-104E-899D-3C02-65D4370D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DBB8C8EB-03EB-70D4-CE75-1C65D8D39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17" name="Shape 13">
            <a:extLst>
              <a:ext uri="{FF2B5EF4-FFF2-40B4-BE49-F238E27FC236}">
                <a16:creationId xmlns:a16="http://schemas.microsoft.com/office/drawing/2014/main" id="{D1FB7F36-8EE9-19B7-DE09-4736018610F0}"/>
              </a:ext>
            </a:extLst>
          </p:cNvPr>
          <p:cNvSpPr/>
          <p:nvPr/>
        </p:nvSpPr>
        <p:spPr>
          <a:xfrm>
            <a:off x="431799" y="127000"/>
            <a:ext cx="45719" cy="43652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00A21C8-8BCE-195E-62EC-BE73F6EE2D6A}"/>
              </a:ext>
            </a:extLst>
          </p:cNvPr>
          <p:cNvSpPr/>
          <p:nvPr/>
        </p:nvSpPr>
        <p:spPr>
          <a:xfrm>
            <a:off x="596392" y="995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KPI’s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41B03-7762-831A-6FF1-94955DC08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660" y="774832"/>
            <a:ext cx="4317801" cy="2739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FF841-44CB-DC43-A6CB-A8F39A5438CD}"/>
              </a:ext>
            </a:extLst>
          </p:cNvPr>
          <p:cNvSpPr txBox="1"/>
          <p:nvPr/>
        </p:nvSpPr>
        <p:spPr>
          <a:xfrm>
            <a:off x="596392" y="937298"/>
            <a:ext cx="5187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Tracks UPS load, power distribution by category (IT, cooling, lighting), and power consumption trends, likely for a data centre facility.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6F0AAD-2800-BC90-A40F-577EABEA9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84" y="2144416"/>
            <a:ext cx="5488004" cy="346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98144-1C81-DCE7-E3F5-4CC76E14AFF0}"/>
              </a:ext>
            </a:extLst>
          </p:cNvPr>
          <p:cNvSpPr txBox="1"/>
          <p:nvPr/>
        </p:nvSpPr>
        <p:spPr>
          <a:xfrm>
            <a:off x="431799" y="5746944"/>
            <a:ext cx="59198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Tracks carbon emissions, energy, waste, and water metrics against targets, alongside active initiatives like LED conversions and electric ground vehicles.</a:t>
            </a:r>
          </a:p>
          <a:p>
            <a:pPr algn="just"/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FAAA8D-740C-BD4B-99C2-C8821B1DD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6660" y="3828616"/>
            <a:ext cx="4317801" cy="2661111"/>
          </a:xfrm>
          <a:prstGeom prst="rect">
            <a:avLst/>
          </a:prstGeom>
        </p:spPr>
      </p:pic>
      <p:sp>
        <p:nvSpPr>
          <p:cNvPr id="11" name="Shape 13">
            <a:extLst>
              <a:ext uri="{FF2B5EF4-FFF2-40B4-BE49-F238E27FC236}">
                <a16:creationId xmlns:a16="http://schemas.microsoft.com/office/drawing/2014/main" id="{219552DD-8820-76A8-B404-1327712D8697}"/>
              </a:ext>
            </a:extLst>
          </p:cNvPr>
          <p:cNvSpPr/>
          <p:nvPr/>
        </p:nvSpPr>
        <p:spPr>
          <a:xfrm>
            <a:off x="8275320" y="3154680"/>
            <a:ext cx="73152" cy="76809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8BFD398D-99A1-B100-451A-EC5A3722E9C2}"/>
              </a:ext>
            </a:extLst>
          </p:cNvPr>
          <p:cNvSpPr/>
          <p:nvPr/>
        </p:nvSpPr>
        <p:spPr>
          <a:xfrm>
            <a:off x="596392" y="372392"/>
            <a:ext cx="7303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Important Key Performance indicators are tracked with IPOC to monitor the operational efficiencies </a:t>
            </a:r>
          </a:p>
        </p:txBody>
      </p:sp>
    </p:spTree>
    <p:extLst>
      <p:ext uri="{BB962C8B-B14F-4D97-AF65-F5344CB8AC3E}">
        <p14:creationId xmlns:p14="http://schemas.microsoft.com/office/powerpoint/2010/main" val="134161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6029F-3AE4-44B1-FD6C-FBFAFF1A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4FF64CB1-8153-471E-9A14-876883577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20" name="Shape 16">
            <a:extLst>
              <a:ext uri="{FF2B5EF4-FFF2-40B4-BE49-F238E27FC236}">
                <a16:creationId xmlns:a16="http://schemas.microsoft.com/office/drawing/2014/main" id="{B1F26F97-6053-A348-C111-8751AE67BEC0}"/>
              </a:ext>
            </a:extLst>
          </p:cNvPr>
          <p:cNvSpPr/>
          <p:nvPr/>
        </p:nvSpPr>
        <p:spPr>
          <a:xfrm flipH="1">
            <a:off x="80255" y="163576"/>
            <a:ext cx="67065" cy="397898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4B82ECC-0D22-D80B-A044-C4CBDEDEE31D}"/>
              </a:ext>
            </a:extLst>
          </p:cNvPr>
          <p:cNvSpPr/>
          <p:nvPr/>
        </p:nvSpPr>
        <p:spPr>
          <a:xfrm>
            <a:off x="322072" y="1361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Maintenance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51A37C34-7BF1-68D6-2E2A-8A175BB24CD6}"/>
              </a:ext>
            </a:extLst>
          </p:cNvPr>
          <p:cNvSpPr/>
          <p:nvPr/>
        </p:nvSpPr>
        <p:spPr>
          <a:xfrm>
            <a:off x="4892040" y="6199632"/>
            <a:ext cx="68122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651A754-FCCA-ABF4-AB7A-B4E1EFCD7D9E}"/>
              </a:ext>
            </a:extLst>
          </p:cNvPr>
          <p:cNvSpPr/>
          <p:nvPr/>
        </p:nvSpPr>
        <p:spPr>
          <a:xfrm>
            <a:off x="4892040" y="6309360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Benefits are indicative and depend on data availability, integration readiness and vendor support.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3147AD5D-358D-8746-2FEB-F21DFE4E510B}"/>
              </a:ext>
            </a:extLst>
          </p:cNvPr>
          <p:cNvSpPr/>
          <p:nvPr/>
        </p:nvSpPr>
        <p:spPr>
          <a:xfrm>
            <a:off x="322071" y="409022"/>
            <a:ext cx="1178967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All connected asset are monitor in real time and alarm and alerts are escalated to maintenance team and tracked digitally till the closer to achieved SLA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9C5A8-48CD-1630-5BC3-0A84D62FF502}"/>
              </a:ext>
            </a:extLst>
          </p:cNvPr>
          <p:cNvSpPr/>
          <p:nvPr/>
        </p:nvSpPr>
        <p:spPr>
          <a:xfrm>
            <a:off x="530352" y="859536"/>
            <a:ext cx="11064240" cy="36576"/>
          </a:xfrm>
          <a:prstGeom prst="rect">
            <a:avLst/>
          </a:prstGeom>
          <a:solidFill>
            <a:srgbClr val="009A5E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D4E8D60C-6ADC-590C-6F23-03F276686C29}"/>
              </a:ext>
            </a:extLst>
          </p:cNvPr>
          <p:cNvSpPr/>
          <p:nvPr/>
        </p:nvSpPr>
        <p:spPr>
          <a:xfrm>
            <a:off x="502920" y="1005840"/>
            <a:ext cx="6812280" cy="516636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1341440C-3FAD-FBED-F4C4-121E0EC14CD1}"/>
              </a:ext>
            </a:extLst>
          </p:cNvPr>
          <p:cNvSpPr/>
          <p:nvPr/>
        </p:nvSpPr>
        <p:spPr>
          <a:xfrm>
            <a:off x="521208" y="1024128"/>
            <a:ext cx="677570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F4638-A5A5-DE0C-A80E-DD82CB059A5D}"/>
              </a:ext>
            </a:extLst>
          </p:cNvPr>
          <p:cNvSpPr txBox="1"/>
          <p:nvPr/>
        </p:nvSpPr>
        <p:spPr>
          <a:xfrm>
            <a:off x="640080" y="1069848"/>
            <a:ext cx="653796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Maintenance operations console</a:t>
            </a:r>
          </a:p>
        </p:txBody>
      </p:sp>
      <p:pic>
        <p:nvPicPr>
          <p:cNvPr id="7" name="Picture 6" descr="a_detailed_dashboard_ui_screenshot_a_dark_high_t.png">
            <a:extLst>
              <a:ext uri="{FF2B5EF4-FFF2-40B4-BE49-F238E27FC236}">
                <a16:creationId xmlns:a16="http://schemas.microsoft.com/office/drawing/2014/main" id="{265D1C31-03A9-C8D5-CE6C-212EC94A5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4" r="6254"/>
          <a:stretch>
            <a:fillRect/>
          </a:stretch>
        </p:blipFill>
        <p:spPr>
          <a:xfrm>
            <a:off x="658368" y="1389888"/>
            <a:ext cx="6510528" cy="4187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5F1588-B9F1-E752-2C31-3528956D982B}"/>
              </a:ext>
            </a:extLst>
          </p:cNvPr>
          <p:cNvSpPr txBox="1"/>
          <p:nvPr/>
        </p:nvSpPr>
        <p:spPr>
          <a:xfrm>
            <a:off x="685800" y="5650992"/>
            <a:ext cx="6400800" cy="3108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Screen-style monitoring with work orders, asset health, technician status, spares and alarm-based maintenance.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1DF9887E-6113-2911-3964-6FC8E4D8EC40}"/>
              </a:ext>
            </a:extLst>
          </p:cNvPr>
          <p:cNvSpPr/>
          <p:nvPr/>
        </p:nvSpPr>
        <p:spPr>
          <a:xfrm>
            <a:off x="7452360" y="1005840"/>
            <a:ext cx="4251960" cy="196596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C8D78212-3E69-3F64-1140-EC086A8239A6}"/>
              </a:ext>
            </a:extLst>
          </p:cNvPr>
          <p:cNvSpPr/>
          <p:nvPr/>
        </p:nvSpPr>
        <p:spPr>
          <a:xfrm>
            <a:off x="7470648" y="1024128"/>
            <a:ext cx="421538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3CF612-1A8B-322A-B1A6-61E28C959BF6}"/>
              </a:ext>
            </a:extLst>
          </p:cNvPr>
          <p:cNvSpPr txBox="1"/>
          <p:nvPr/>
        </p:nvSpPr>
        <p:spPr>
          <a:xfrm>
            <a:off x="7589520" y="1069848"/>
            <a:ext cx="39776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Airport asset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8B248-2FF8-F661-1DB2-83DCA9627F3C}"/>
              </a:ext>
            </a:extLst>
          </p:cNvPr>
          <p:cNvSpPr txBox="1"/>
          <p:nvPr/>
        </p:nvSpPr>
        <p:spPr>
          <a:xfrm>
            <a:off x="7616952" y="1417320"/>
            <a:ext cx="3886200" cy="1371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defTabSz="457200">
              <a:spcAft>
                <a:spcPts val="400"/>
              </a:spcAft>
            </a:pPr>
            <a:r>
              <a:rPr sz="1200" b="1">
                <a:solidFill>
                  <a:srgbClr val="009A5E"/>
                </a:solidFill>
                <a:latin typeface="Calibri"/>
              </a:rPr>
              <a:t>• </a:t>
            </a:r>
            <a:r>
              <a:rPr sz="1200">
                <a:solidFill>
                  <a:srgbClr val="17202A"/>
                </a:solidFill>
                <a:latin typeface="Calibri"/>
              </a:rPr>
              <a:t>Airside: AGL, PBB and VDGS</a:t>
            </a:r>
          </a:p>
          <a:p>
            <a:pPr defTabSz="457200">
              <a:spcAft>
                <a:spcPts val="400"/>
              </a:spcAft>
            </a:pPr>
            <a:r>
              <a:rPr sz="1200" b="1">
                <a:solidFill>
                  <a:srgbClr val="009A5E"/>
                </a:solidFill>
                <a:latin typeface="Calibri"/>
              </a:rPr>
              <a:t>• </a:t>
            </a:r>
            <a:r>
              <a:rPr sz="1200">
                <a:solidFill>
                  <a:srgbClr val="17202A"/>
                </a:solidFill>
                <a:latin typeface="Calibri"/>
              </a:rPr>
              <a:t>Terminal: BHS, FIDS, BMS/HVAC, lifts and escalators</a:t>
            </a:r>
          </a:p>
          <a:p>
            <a:pPr defTabSz="457200">
              <a:spcAft>
                <a:spcPts val="400"/>
              </a:spcAft>
            </a:pPr>
            <a:r>
              <a:rPr sz="1200" b="1">
                <a:solidFill>
                  <a:srgbClr val="009A5E"/>
                </a:solidFill>
                <a:latin typeface="Calibri"/>
              </a:rPr>
              <a:t>• </a:t>
            </a:r>
            <a:r>
              <a:rPr sz="1200">
                <a:solidFill>
                  <a:srgbClr val="17202A"/>
                </a:solidFill>
                <a:latin typeface="Calibri"/>
              </a:rPr>
              <a:t>Safety &amp; security: CCTV, fire alarm and access/security devices</a:t>
            </a:r>
          </a:p>
          <a:p>
            <a:pPr defTabSz="457200">
              <a:spcAft>
                <a:spcPts val="400"/>
              </a:spcAft>
            </a:pPr>
            <a:r>
              <a:rPr sz="1200" b="1">
                <a:solidFill>
                  <a:srgbClr val="009A5E"/>
                </a:solidFill>
                <a:latin typeface="Calibri"/>
              </a:rPr>
              <a:t>• </a:t>
            </a:r>
            <a:r>
              <a:rPr sz="1200">
                <a:solidFill>
                  <a:srgbClr val="17202A"/>
                </a:solidFill>
                <a:latin typeface="Calibri"/>
              </a:rPr>
              <a:t>Utilities: water system, UPS, DG and related electrical assets</a:t>
            </a:r>
          </a:p>
        </p:txBody>
      </p:sp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42102DC1-4DCD-490B-9AD7-7F46F45A11FB}"/>
              </a:ext>
            </a:extLst>
          </p:cNvPr>
          <p:cNvSpPr/>
          <p:nvPr/>
        </p:nvSpPr>
        <p:spPr>
          <a:xfrm>
            <a:off x="7452360" y="3127248"/>
            <a:ext cx="4251960" cy="233172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D95CFAB5-1C5D-66C0-3A1A-BD1382919C9B}"/>
              </a:ext>
            </a:extLst>
          </p:cNvPr>
          <p:cNvSpPr/>
          <p:nvPr/>
        </p:nvSpPr>
        <p:spPr>
          <a:xfrm>
            <a:off x="7470648" y="3145536"/>
            <a:ext cx="421538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58F8D5-82C6-EAB8-FB07-3E2A0B65E282}"/>
              </a:ext>
            </a:extLst>
          </p:cNvPr>
          <p:cNvSpPr txBox="1"/>
          <p:nvPr/>
        </p:nvSpPr>
        <p:spPr>
          <a:xfrm>
            <a:off x="7589520" y="3191256"/>
            <a:ext cx="397764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Asset management principles</a:t>
            </a:r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61FF48BB-7AFC-8B2E-F6AE-40D5C00F45FB}"/>
              </a:ext>
            </a:extLst>
          </p:cNvPr>
          <p:cNvSpPr/>
          <p:nvPr/>
        </p:nvSpPr>
        <p:spPr>
          <a:xfrm>
            <a:off x="7626096" y="3493008"/>
            <a:ext cx="146304" cy="292608"/>
          </a:xfrm>
          <a:prstGeom prst="roundRect">
            <a:avLst/>
          </a:prstGeom>
          <a:solidFill>
            <a:srgbClr val="009A5E"/>
          </a:solidFill>
          <a:ln w="9525" cap="flat" cmpd="sng" algn="ctr">
            <a:solidFill>
              <a:srgbClr val="009A5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1176D1-44E0-D84A-0C6D-28165B56E687}"/>
              </a:ext>
            </a:extLst>
          </p:cNvPr>
          <p:cNvSpPr txBox="1"/>
          <p:nvPr/>
        </p:nvSpPr>
        <p:spPr>
          <a:xfrm>
            <a:off x="7845552" y="3483864"/>
            <a:ext cx="36118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1. Common asset hierarchy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0DB777-A786-3536-EC6F-370F30580BB1}"/>
              </a:ext>
            </a:extLst>
          </p:cNvPr>
          <p:cNvSpPr txBox="1"/>
          <p:nvPr/>
        </p:nvSpPr>
        <p:spPr>
          <a:xfrm>
            <a:off x="7845552" y="3657600"/>
            <a:ext cx="361188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Standard asset register, location, tag and OEM details for every connected asset.</a:t>
            </a:r>
          </a:p>
        </p:txBody>
      </p:sp>
      <p:sp>
        <p:nvSpPr>
          <p:cNvPr id="22" name="Rounded Rectangle 22">
            <a:extLst>
              <a:ext uri="{FF2B5EF4-FFF2-40B4-BE49-F238E27FC236}">
                <a16:creationId xmlns:a16="http://schemas.microsoft.com/office/drawing/2014/main" id="{2E960D68-78A4-E445-3FF6-CE737DE2E704}"/>
              </a:ext>
            </a:extLst>
          </p:cNvPr>
          <p:cNvSpPr/>
          <p:nvPr/>
        </p:nvSpPr>
        <p:spPr>
          <a:xfrm>
            <a:off x="7626096" y="3941063"/>
            <a:ext cx="146304" cy="292608"/>
          </a:xfrm>
          <a:prstGeom prst="roundRect">
            <a:avLst/>
          </a:prstGeom>
          <a:solidFill>
            <a:srgbClr val="009A5E"/>
          </a:solidFill>
          <a:ln w="9525" cap="flat" cmpd="sng" algn="ctr">
            <a:solidFill>
              <a:srgbClr val="009A5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EC2209-623B-ED7E-16E0-E54D284DA434}"/>
              </a:ext>
            </a:extLst>
          </p:cNvPr>
          <p:cNvSpPr txBox="1"/>
          <p:nvPr/>
        </p:nvSpPr>
        <p:spPr>
          <a:xfrm>
            <a:off x="7845552" y="3931920"/>
            <a:ext cx="36118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2. Criticality and risk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4F874-8394-2843-53D4-B691C81DF813}"/>
              </a:ext>
            </a:extLst>
          </p:cNvPr>
          <p:cNvSpPr txBox="1"/>
          <p:nvPr/>
        </p:nvSpPr>
        <p:spPr>
          <a:xfrm>
            <a:off x="7845552" y="4105655"/>
            <a:ext cx="361188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Rank by safety impact, operational impact, redundancy and maintainability.</a:t>
            </a:r>
          </a:p>
        </p:txBody>
      </p:sp>
      <p:sp>
        <p:nvSpPr>
          <p:cNvPr id="25" name="Rounded Rectangle 25">
            <a:extLst>
              <a:ext uri="{FF2B5EF4-FFF2-40B4-BE49-F238E27FC236}">
                <a16:creationId xmlns:a16="http://schemas.microsoft.com/office/drawing/2014/main" id="{791DFBF8-1107-7605-169A-50AEE9B57351}"/>
              </a:ext>
            </a:extLst>
          </p:cNvPr>
          <p:cNvSpPr/>
          <p:nvPr/>
        </p:nvSpPr>
        <p:spPr>
          <a:xfrm>
            <a:off x="7626096" y="4389120"/>
            <a:ext cx="146304" cy="292608"/>
          </a:xfrm>
          <a:prstGeom prst="roundRect">
            <a:avLst/>
          </a:prstGeom>
          <a:solidFill>
            <a:srgbClr val="009A5E"/>
          </a:solidFill>
          <a:ln w="9525" cap="flat" cmpd="sng" algn="ctr">
            <a:solidFill>
              <a:srgbClr val="009A5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5C966-C8F0-4159-57F1-737D1748272B}"/>
              </a:ext>
            </a:extLst>
          </p:cNvPr>
          <p:cNvSpPr txBox="1"/>
          <p:nvPr/>
        </p:nvSpPr>
        <p:spPr>
          <a:xfrm>
            <a:off x="7845552" y="4379976"/>
            <a:ext cx="36118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3. Condition visibility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8928E9-F4C7-5948-0B78-EE70F511FA9B}"/>
              </a:ext>
            </a:extLst>
          </p:cNvPr>
          <p:cNvSpPr txBox="1"/>
          <p:nvPr/>
        </p:nvSpPr>
        <p:spPr>
          <a:xfrm>
            <a:off x="7845552" y="4553712"/>
            <a:ext cx="361188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Use alarms, runtime, health indicators and inspection data to see asset condition.</a:t>
            </a: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E6A4B591-D325-AFB3-B308-A6109EBCD050}"/>
              </a:ext>
            </a:extLst>
          </p:cNvPr>
          <p:cNvSpPr/>
          <p:nvPr/>
        </p:nvSpPr>
        <p:spPr>
          <a:xfrm>
            <a:off x="7626096" y="4837176"/>
            <a:ext cx="146304" cy="292608"/>
          </a:xfrm>
          <a:prstGeom prst="roundRect">
            <a:avLst/>
          </a:prstGeom>
          <a:solidFill>
            <a:srgbClr val="009A5E"/>
          </a:solidFill>
          <a:ln w="9525" cap="flat" cmpd="sng" algn="ctr">
            <a:solidFill>
              <a:srgbClr val="009A5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A55F80-5D3E-48B8-5DF2-7E174EEB3CC0}"/>
              </a:ext>
            </a:extLst>
          </p:cNvPr>
          <p:cNvSpPr txBox="1"/>
          <p:nvPr/>
        </p:nvSpPr>
        <p:spPr>
          <a:xfrm>
            <a:off x="7845552" y="4828032"/>
            <a:ext cx="36118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4. Closed-loop work management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B4077F-3B0C-B776-77F1-7B36A33C7AF4}"/>
              </a:ext>
            </a:extLst>
          </p:cNvPr>
          <p:cNvSpPr txBox="1"/>
          <p:nvPr/>
        </p:nvSpPr>
        <p:spPr>
          <a:xfrm>
            <a:off x="7845552" y="5001768"/>
            <a:ext cx="361188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3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Escalate incidents into work orders and track response, restore and closure SLA.</a:t>
            </a:r>
          </a:p>
        </p:txBody>
      </p:sp>
      <p:sp>
        <p:nvSpPr>
          <p:cNvPr id="33" name="Rounded Rectangle 31">
            <a:extLst>
              <a:ext uri="{FF2B5EF4-FFF2-40B4-BE49-F238E27FC236}">
                <a16:creationId xmlns:a16="http://schemas.microsoft.com/office/drawing/2014/main" id="{C924F755-C2FE-3B15-FC3A-C24551801C97}"/>
              </a:ext>
            </a:extLst>
          </p:cNvPr>
          <p:cNvSpPr/>
          <p:nvPr/>
        </p:nvSpPr>
        <p:spPr>
          <a:xfrm>
            <a:off x="7452360" y="5623560"/>
            <a:ext cx="4251960" cy="502920"/>
          </a:xfrm>
          <a:prstGeom prst="roundRect">
            <a:avLst/>
          </a:prstGeom>
          <a:solidFill>
            <a:srgbClr val="EBF8F2"/>
          </a:solidFill>
          <a:ln w="9525" cap="flat" cmpd="sng" algn="ctr">
            <a:solidFill>
              <a:srgbClr val="EBF8F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E51CEE-DF3D-2B02-BFEC-6F8C18C969AD}"/>
              </a:ext>
            </a:extLst>
          </p:cNvPr>
          <p:cNvSpPr txBox="1"/>
          <p:nvPr/>
        </p:nvSpPr>
        <p:spPr>
          <a:xfrm>
            <a:off x="7635240" y="5751576"/>
            <a:ext cx="38862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rgbClr val="009A5E"/>
                </a:solidFill>
                <a:effectLst/>
                <a:uLnTx/>
                <a:uFillTx/>
              </a:rPr>
              <a:t>Outcome: one maintenance console linking real-time asset condition, work execution and service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48827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4BFD0-1E49-4EF5-CCBE-E73AEFDE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2C930965-1DDA-5EC3-B424-6C1C9B7E3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20" name="Shape 16">
            <a:extLst>
              <a:ext uri="{FF2B5EF4-FFF2-40B4-BE49-F238E27FC236}">
                <a16:creationId xmlns:a16="http://schemas.microsoft.com/office/drawing/2014/main" id="{42030502-F779-B12E-5193-A015CE78B7A5}"/>
              </a:ext>
            </a:extLst>
          </p:cNvPr>
          <p:cNvSpPr/>
          <p:nvPr/>
        </p:nvSpPr>
        <p:spPr>
          <a:xfrm flipH="1">
            <a:off x="80255" y="163576"/>
            <a:ext cx="67065" cy="397898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B296404-2BEA-B9A0-6A64-9AC1F5D2386F}"/>
              </a:ext>
            </a:extLst>
          </p:cNvPr>
          <p:cNvSpPr/>
          <p:nvPr/>
        </p:nvSpPr>
        <p:spPr>
          <a:xfrm>
            <a:off x="322072" y="1361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Maintenance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FD348F8B-97C8-4E41-332E-422A0A4D0F97}"/>
              </a:ext>
            </a:extLst>
          </p:cNvPr>
          <p:cNvSpPr/>
          <p:nvPr/>
        </p:nvSpPr>
        <p:spPr>
          <a:xfrm>
            <a:off x="4892040" y="6199632"/>
            <a:ext cx="68122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908D6F3F-BB39-EF1A-4CEA-B73FCBC4E268}"/>
              </a:ext>
            </a:extLst>
          </p:cNvPr>
          <p:cNvSpPr/>
          <p:nvPr/>
        </p:nvSpPr>
        <p:spPr>
          <a:xfrm>
            <a:off x="4892040" y="6309360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Benefits are indicative and depend on data availability, integration readiness and vendor support.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0906025C-C0EE-43BD-52A6-E5A556DC5E99}"/>
              </a:ext>
            </a:extLst>
          </p:cNvPr>
          <p:cNvSpPr/>
          <p:nvPr/>
        </p:nvSpPr>
        <p:spPr>
          <a:xfrm>
            <a:off x="322071" y="409022"/>
            <a:ext cx="102718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All connected asset are monitor in real time and alarm and alerts are escalated to maintenance team and tracked digitally till the closer to achieved SLA</a:t>
            </a:r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3DD38554-8869-4BAB-103F-76A28A92CDFE}"/>
              </a:ext>
            </a:extLst>
          </p:cNvPr>
          <p:cNvSpPr/>
          <p:nvPr/>
        </p:nvSpPr>
        <p:spPr>
          <a:xfrm>
            <a:off x="394063" y="981019"/>
            <a:ext cx="3703320" cy="1828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E388515B-54AA-62BB-215E-2B82FDF22E10}"/>
              </a:ext>
            </a:extLst>
          </p:cNvPr>
          <p:cNvSpPr/>
          <p:nvPr/>
        </p:nvSpPr>
        <p:spPr>
          <a:xfrm>
            <a:off x="412351" y="999307"/>
            <a:ext cx="366674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DF9C7-1A59-BF31-E5B6-9ABF50C2DFC4}"/>
              </a:ext>
            </a:extLst>
          </p:cNvPr>
          <p:cNvSpPr txBox="1"/>
          <p:nvPr/>
        </p:nvSpPr>
        <p:spPr>
          <a:xfrm>
            <a:off x="531223" y="1045027"/>
            <a:ext cx="34290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Airside assets</a:t>
            </a:r>
          </a:p>
        </p:txBody>
      </p:sp>
      <p:pic>
        <p:nvPicPr>
          <p:cNvPr id="6" name="Picture 5" descr="Airside Consol.png">
            <a:extLst>
              <a:ext uri="{FF2B5EF4-FFF2-40B4-BE49-F238E27FC236}">
                <a16:creationId xmlns:a16="http://schemas.microsoft.com/office/drawing/2014/main" id="{A8DAAF6A-FA0E-11DD-DF0E-768067001C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680" b="21680"/>
          <a:stretch>
            <a:fillRect/>
          </a:stretch>
        </p:blipFill>
        <p:spPr>
          <a:xfrm>
            <a:off x="467215" y="1365066"/>
            <a:ext cx="3557015" cy="1133856"/>
          </a:xfrm>
          <a:prstGeom prst="rect">
            <a:avLst/>
          </a:prstGeom>
        </p:spPr>
      </p:pic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DE81246E-161A-9100-9BC5-6AE4C6452AF2}"/>
              </a:ext>
            </a:extLst>
          </p:cNvPr>
          <p:cNvSpPr/>
          <p:nvPr/>
        </p:nvSpPr>
        <p:spPr>
          <a:xfrm>
            <a:off x="485503" y="2553786"/>
            <a:ext cx="3520439" cy="201168"/>
          </a:xfrm>
          <a:prstGeom prst="roundRect">
            <a:avLst/>
          </a:prstGeom>
          <a:solidFill>
            <a:srgbClr val="F5F7F9"/>
          </a:solidFill>
          <a:ln w="9525" cap="flat" cmpd="sng" algn="ctr">
            <a:solidFill>
              <a:srgbClr val="F5F7F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193E3-B669-756F-1B30-DBFA1B6EC505}"/>
              </a:ext>
            </a:extLst>
          </p:cNvPr>
          <p:cNvSpPr txBox="1"/>
          <p:nvPr/>
        </p:nvSpPr>
        <p:spPr>
          <a:xfrm>
            <a:off x="531223" y="2590362"/>
            <a:ext cx="342900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AGL • PBB • VDGS</a:t>
            </a:r>
          </a:p>
        </p:txBody>
      </p:sp>
      <p:sp>
        <p:nvSpPr>
          <p:cNvPr id="10" name="Rounded Rectangle 13">
            <a:extLst>
              <a:ext uri="{FF2B5EF4-FFF2-40B4-BE49-F238E27FC236}">
                <a16:creationId xmlns:a16="http://schemas.microsoft.com/office/drawing/2014/main" id="{B2EE3344-DEC4-F8C5-620F-285B12D46146}"/>
              </a:ext>
            </a:extLst>
          </p:cNvPr>
          <p:cNvSpPr/>
          <p:nvPr/>
        </p:nvSpPr>
        <p:spPr>
          <a:xfrm>
            <a:off x="4143103" y="981019"/>
            <a:ext cx="3703320" cy="1828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274D6F83-CCA7-3B33-5864-3D4A90527244}"/>
              </a:ext>
            </a:extLst>
          </p:cNvPr>
          <p:cNvSpPr/>
          <p:nvPr/>
        </p:nvSpPr>
        <p:spPr>
          <a:xfrm>
            <a:off x="4161391" y="999307"/>
            <a:ext cx="366674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10C4E-609A-71EE-C1EB-574F28030B89}"/>
              </a:ext>
            </a:extLst>
          </p:cNvPr>
          <p:cNvSpPr txBox="1"/>
          <p:nvPr/>
        </p:nvSpPr>
        <p:spPr>
          <a:xfrm>
            <a:off x="4280263" y="1045027"/>
            <a:ext cx="34290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Terminal baggage</a:t>
            </a:r>
          </a:p>
        </p:txBody>
      </p:sp>
      <p:pic>
        <p:nvPicPr>
          <p:cNvPr id="13" name="Picture 12" descr="BHS pic.png">
            <a:extLst>
              <a:ext uri="{FF2B5EF4-FFF2-40B4-BE49-F238E27FC236}">
                <a16:creationId xmlns:a16="http://schemas.microsoft.com/office/drawing/2014/main" id="{61D8EC2E-6866-DBBC-9247-ECA1260C89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686" b="17686"/>
          <a:stretch>
            <a:fillRect/>
          </a:stretch>
        </p:blipFill>
        <p:spPr>
          <a:xfrm>
            <a:off x="4216255" y="1365066"/>
            <a:ext cx="3557015" cy="1133856"/>
          </a:xfrm>
          <a:prstGeom prst="rect">
            <a:avLst/>
          </a:prstGeom>
        </p:spPr>
      </p:pic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9A59F9C2-ADC2-75F4-B7B7-72E8EF783F95}"/>
              </a:ext>
            </a:extLst>
          </p:cNvPr>
          <p:cNvSpPr/>
          <p:nvPr/>
        </p:nvSpPr>
        <p:spPr>
          <a:xfrm>
            <a:off x="4234543" y="2553786"/>
            <a:ext cx="3520439" cy="201168"/>
          </a:xfrm>
          <a:prstGeom prst="roundRect">
            <a:avLst/>
          </a:prstGeom>
          <a:solidFill>
            <a:srgbClr val="F5F7F9"/>
          </a:solidFill>
          <a:ln w="9525" cap="flat" cmpd="sng" algn="ctr">
            <a:solidFill>
              <a:srgbClr val="F5F7F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B9056-049A-B321-ACF3-AE4F65152771}"/>
              </a:ext>
            </a:extLst>
          </p:cNvPr>
          <p:cNvSpPr txBox="1"/>
          <p:nvPr/>
        </p:nvSpPr>
        <p:spPr>
          <a:xfrm>
            <a:off x="4280263" y="2590362"/>
            <a:ext cx="342900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BHS conveyors, sorters and scanners</a:t>
            </a:r>
          </a:p>
        </p:txBody>
      </p: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0CB113BB-4577-69F4-C2A6-9040CD08D7E6}"/>
              </a:ext>
            </a:extLst>
          </p:cNvPr>
          <p:cNvSpPr/>
          <p:nvPr/>
        </p:nvSpPr>
        <p:spPr>
          <a:xfrm>
            <a:off x="7892143" y="981019"/>
            <a:ext cx="3703320" cy="1828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9BFB7547-254A-A3B0-21E4-3797284A0F91}"/>
              </a:ext>
            </a:extLst>
          </p:cNvPr>
          <p:cNvSpPr/>
          <p:nvPr/>
        </p:nvSpPr>
        <p:spPr>
          <a:xfrm>
            <a:off x="7910431" y="999307"/>
            <a:ext cx="366674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7E768B-5BA2-147E-5250-C30DEE29F314}"/>
              </a:ext>
            </a:extLst>
          </p:cNvPr>
          <p:cNvSpPr txBox="1"/>
          <p:nvPr/>
        </p:nvSpPr>
        <p:spPr>
          <a:xfrm>
            <a:off x="8029303" y="1045027"/>
            <a:ext cx="34290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Building systems</a:t>
            </a:r>
          </a:p>
        </p:txBody>
      </p:sp>
      <p:pic>
        <p:nvPicPr>
          <p:cNvPr id="19" name="Picture 18" descr="HVAC.png">
            <a:extLst>
              <a:ext uri="{FF2B5EF4-FFF2-40B4-BE49-F238E27FC236}">
                <a16:creationId xmlns:a16="http://schemas.microsoft.com/office/drawing/2014/main" id="{53FDF7EF-DB7C-2933-4ABE-86421BA880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914" b="17914"/>
          <a:stretch>
            <a:fillRect/>
          </a:stretch>
        </p:blipFill>
        <p:spPr>
          <a:xfrm>
            <a:off x="7965295" y="1365066"/>
            <a:ext cx="3557015" cy="1133856"/>
          </a:xfrm>
          <a:prstGeom prst="rect">
            <a:avLst/>
          </a:prstGeom>
        </p:spPr>
      </p:pic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C5144584-5CA1-C9B0-E39B-3DF11F91D578}"/>
              </a:ext>
            </a:extLst>
          </p:cNvPr>
          <p:cNvSpPr/>
          <p:nvPr/>
        </p:nvSpPr>
        <p:spPr>
          <a:xfrm>
            <a:off x="7983583" y="2553786"/>
            <a:ext cx="3520439" cy="201168"/>
          </a:xfrm>
          <a:prstGeom prst="roundRect">
            <a:avLst/>
          </a:prstGeom>
          <a:solidFill>
            <a:srgbClr val="F5F7F9"/>
          </a:solidFill>
          <a:ln w="9525" cap="flat" cmpd="sng" algn="ctr">
            <a:solidFill>
              <a:srgbClr val="F5F7F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991669-B6F4-BCA4-E8C1-FEAAF352F335}"/>
              </a:ext>
            </a:extLst>
          </p:cNvPr>
          <p:cNvSpPr txBox="1"/>
          <p:nvPr/>
        </p:nvSpPr>
        <p:spPr>
          <a:xfrm>
            <a:off x="8029303" y="2590362"/>
            <a:ext cx="342900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HVAC, chiller, pumps and BMS</a:t>
            </a:r>
          </a:p>
        </p:txBody>
      </p: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6269A19E-8AC0-FC6D-E690-0F49F2A7B0C8}"/>
              </a:ext>
            </a:extLst>
          </p:cNvPr>
          <p:cNvSpPr/>
          <p:nvPr/>
        </p:nvSpPr>
        <p:spPr>
          <a:xfrm>
            <a:off x="394063" y="3056707"/>
            <a:ext cx="5577840" cy="2057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892FF0CA-D851-A576-D1EF-87C7F4194738}"/>
              </a:ext>
            </a:extLst>
          </p:cNvPr>
          <p:cNvSpPr/>
          <p:nvPr/>
        </p:nvSpPr>
        <p:spPr>
          <a:xfrm>
            <a:off x="412351" y="3074995"/>
            <a:ext cx="554126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817090-1F08-117B-20CE-6576403D1716}"/>
              </a:ext>
            </a:extLst>
          </p:cNvPr>
          <p:cNvSpPr txBox="1"/>
          <p:nvPr/>
        </p:nvSpPr>
        <p:spPr>
          <a:xfrm>
            <a:off x="531223" y="3120715"/>
            <a:ext cx="530352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Safety &amp; security</a:t>
            </a:r>
          </a:p>
        </p:txBody>
      </p:sp>
      <p:pic>
        <p:nvPicPr>
          <p:cNvPr id="29" name="Picture 28" descr="wide_dark_tech_dashboard_for_safety_security_co.png">
            <a:extLst>
              <a:ext uri="{FF2B5EF4-FFF2-40B4-BE49-F238E27FC236}">
                <a16:creationId xmlns:a16="http://schemas.microsoft.com/office/drawing/2014/main" id="{4341055B-A47B-0A7F-83C0-1D615AF149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7715" b="27715"/>
          <a:stretch>
            <a:fillRect/>
          </a:stretch>
        </p:blipFill>
        <p:spPr>
          <a:xfrm>
            <a:off x="467215" y="3440755"/>
            <a:ext cx="5431536" cy="1362456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E55D513-2CF5-CD50-2FCE-4154C9FA9045}"/>
              </a:ext>
            </a:extLst>
          </p:cNvPr>
          <p:cNvSpPr/>
          <p:nvPr/>
        </p:nvSpPr>
        <p:spPr>
          <a:xfrm>
            <a:off x="485503" y="4858075"/>
            <a:ext cx="5394959" cy="201168"/>
          </a:xfrm>
          <a:prstGeom prst="roundRect">
            <a:avLst/>
          </a:prstGeom>
          <a:solidFill>
            <a:srgbClr val="F5F7F9"/>
          </a:solidFill>
          <a:ln w="9525" cap="flat" cmpd="sng" algn="ctr">
            <a:solidFill>
              <a:srgbClr val="F5F7F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510FF5-0274-6676-69E5-88FDDF231601}"/>
              </a:ext>
            </a:extLst>
          </p:cNvPr>
          <p:cNvSpPr txBox="1"/>
          <p:nvPr/>
        </p:nvSpPr>
        <p:spPr>
          <a:xfrm>
            <a:off x="531223" y="4894651"/>
            <a:ext cx="530352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CCTV, fire alarm and critical interfaces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11B3D5A-4ED0-26D0-1182-7EB96492CF3F}"/>
              </a:ext>
            </a:extLst>
          </p:cNvPr>
          <p:cNvSpPr/>
          <p:nvPr/>
        </p:nvSpPr>
        <p:spPr>
          <a:xfrm>
            <a:off x="6154783" y="3056707"/>
            <a:ext cx="5440680" cy="2057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8D1A15E-4102-C165-7146-3D929BA851E9}"/>
              </a:ext>
            </a:extLst>
          </p:cNvPr>
          <p:cNvSpPr/>
          <p:nvPr/>
        </p:nvSpPr>
        <p:spPr>
          <a:xfrm>
            <a:off x="6173070" y="3074995"/>
            <a:ext cx="540410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EA76E-0D7D-9487-B403-B5456F46E2D6}"/>
              </a:ext>
            </a:extLst>
          </p:cNvPr>
          <p:cNvSpPr txBox="1"/>
          <p:nvPr/>
        </p:nvSpPr>
        <p:spPr>
          <a:xfrm>
            <a:off x="6291943" y="3120715"/>
            <a:ext cx="516636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Utilities &amp; power</a:t>
            </a:r>
          </a:p>
        </p:txBody>
      </p:sp>
      <p:pic>
        <p:nvPicPr>
          <p:cNvPr id="35" name="Picture 34" descr="utilities_operations_control_room_dashboard.png">
            <a:extLst>
              <a:ext uri="{FF2B5EF4-FFF2-40B4-BE49-F238E27FC236}">
                <a16:creationId xmlns:a16="http://schemas.microsoft.com/office/drawing/2014/main" id="{AA2467A9-38B5-91D0-C4DA-F81D3C3C4AF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7137" b="27137"/>
          <a:stretch>
            <a:fillRect/>
          </a:stretch>
        </p:blipFill>
        <p:spPr>
          <a:xfrm>
            <a:off x="6227935" y="3440755"/>
            <a:ext cx="5294376" cy="1362456"/>
          </a:xfrm>
          <a:prstGeom prst="rect">
            <a:avLst/>
          </a:prstGeom>
        </p:spPr>
      </p:pic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1A3D80A-A12F-A64A-26FC-5494FFD7C461}"/>
              </a:ext>
            </a:extLst>
          </p:cNvPr>
          <p:cNvSpPr/>
          <p:nvPr/>
        </p:nvSpPr>
        <p:spPr>
          <a:xfrm>
            <a:off x="6246222" y="4858075"/>
            <a:ext cx="5257800" cy="201168"/>
          </a:xfrm>
          <a:prstGeom prst="roundRect">
            <a:avLst/>
          </a:prstGeom>
          <a:solidFill>
            <a:srgbClr val="F5F7F9"/>
          </a:solidFill>
          <a:ln w="9525" cap="flat" cmpd="sng" algn="ctr">
            <a:solidFill>
              <a:srgbClr val="F5F7F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CCBD9E-9B69-BB43-40A5-296F6189A423}"/>
              </a:ext>
            </a:extLst>
          </p:cNvPr>
          <p:cNvSpPr txBox="1"/>
          <p:nvPr/>
        </p:nvSpPr>
        <p:spPr>
          <a:xfrm>
            <a:off x="6291943" y="4894651"/>
            <a:ext cx="516636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8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Water, UPS, DG and electrical systems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E51CF28-4872-32C6-13C3-E63DBD3DFC99}"/>
              </a:ext>
            </a:extLst>
          </p:cNvPr>
          <p:cNvSpPr/>
          <p:nvPr/>
        </p:nvSpPr>
        <p:spPr>
          <a:xfrm>
            <a:off x="394063" y="5415859"/>
            <a:ext cx="11201400" cy="905256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A5FC85B-4777-FC40-F364-F055D2E1B0E5}"/>
              </a:ext>
            </a:extLst>
          </p:cNvPr>
          <p:cNvSpPr/>
          <p:nvPr/>
        </p:nvSpPr>
        <p:spPr>
          <a:xfrm>
            <a:off x="412351" y="5434147"/>
            <a:ext cx="1116482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728B70-24A8-C14B-9387-0329EE4C7C6E}"/>
              </a:ext>
            </a:extLst>
          </p:cNvPr>
          <p:cNvSpPr txBox="1"/>
          <p:nvPr/>
        </p:nvSpPr>
        <p:spPr>
          <a:xfrm>
            <a:off x="531223" y="5479867"/>
            <a:ext cx="109270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Maintenance scope focus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DCFF3-40E2-3542-829B-CB42A4D61810}"/>
              </a:ext>
            </a:extLst>
          </p:cNvPr>
          <p:cNvSpPr txBox="1"/>
          <p:nvPr/>
        </p:nvSpPr>
        <p:spPr>
          <a:xfrm>
            <a:off x="378823" y="5786191"/>
            <a:ext cx="1083564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Each asset class follows the same maintenance principles: standard master data, criticality ranking, inspection plans, alarm-based response, preventive tasks, condition monitoring, spare-parts linkage and service history.</a:t>
            </a:r>
          </a:p>
        </p:txBody>
      </p:sp>
    </p:spTree>
    <p:extLst>
      <p:ext uri="{BB962C8B-B14F-4D97-AF65-F5344CB8AC3E}">
        <p14:creationId xmlns:p14="http://schemas.microsoft.com/office/powerpoint/2010/main" val="342045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7A503-E569-0B2C-A6E8-E3C404AF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20CC2A11-78D9-064A-AFCF-AA7FF59B5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20" name="Shape 16">
            <a:extLst>
              <a:ext uri="{FF2B5EF4-FFF2-40B4-BE49-F238E27FC236}">
                <a16:creationId xmlns:a16="http://schemas.microsoft.com/office/drawing/2014/main" id="{60EEFD60-56F6-7D70-F549-E12FC445E447}"/>
              </a:ext>
            </a:extLst>
          </p:cNvPr>
          <p:cNvSpPr/>
          <p:nvPr/>
        </p:nvSpPr>
        <p:spPr>
          <a:xfrm flipH="1">
            <a:off x="80255" y="163576"/>
            <a:ext cx="67065" cy="397898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4E6733D3-B8AA-A9AB-CD1D-4940C72040E9}"/>
              </a:ext>
            </a:extLst>
          </p:cNvPr>
          <p:cNvSpPr/>
          <p:nvPr/>
        </p:nvSpPr>
        <p:spPr>
          <a:xfrm>
            <a:off x="322072" y="1361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Maintenance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16A7E14C-100E-394A-D4DC-5C06A4C85E80}"/>
              </a:ext>
            </a:extLst>
          </p:cNvPr>
          <p:cNvSpPr/>
          <p:nvPr/>
        </p:nvSpPr>
        <p:spPr>
          <a:xfrm>
            <a:off x="4892040" y="6199632"/>
            <a:ext cx="68122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F802C0EC-0F1F-B7C2-48D4-465028B5B24C}"/>
              </a:ext>
            </a:extLst>
          </p:cNvPr>
          <p:cNvSpPr/>
          <p:nvPr/>
        </p:nvSpPr>
        <p:spPr>
          <a:xfrm>
            <a:off x="4892040" y="6309360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Benefits are indicative and depend on data availability, integration readiness and vendor support.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4F7F08E5-7845-32FA-ED20-C34DA9AE3F21}"/>
              </a:ext>
            </a:extLst>
          </p:cNvPr>
          <p:cNvSpPr/>
          <p:nvPr/>
        </p:nvSpPr>
        <p:spPr>
          <a:xfrm>
            <a:off x="322071" y="409022"/>
            <a:ext cx="102718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All connected asset are monitor in real time and alarm and alerts are escalated to maintenance team and tracked digitally till the closer to achieved SLA</a:t>
            </a:r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BEC32186-C62C-144C-57AE-DA89A437CDB3}"/>
              </a:ext>
            </a:extLst>
          </p:cNvPr>
          <p:cNvSpPr/>
          <p:nvPr/>
        </p:nvSpPr>
        <p:spPr>
          <a:xfrm>
            <a:off x="383177" y="918754"/>
            <a:ext cx="6217920" cy="52578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EEF90FF9-EE84-9FFC-816D-031CA35DED92}"/>
              </a:ext>
            </a:extLst>
          </p:cNvPr>
          <p:cNvSpPr/>
          <p:nvPr/>
        </p:nvSpPr>
        <p:spPr>
          <a:xfrm>
            <a:off x="401465" y="937042"/>
            <a:ext cx="618134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EE150-870A-E750-99B2-34DB3D7DC306}"/>
              </a:ext>
            </a:extLst>
          </p:cNvPr>
          <p:cNvSpPr txBox="1"/>
          <p:nvPr/>
        </p:nvSpPr>
        <p:spPr>
          <a:xfrm>
            <a:off x="520337" y="982762"/>
            <a:ext cx="59436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Maintenance KPI and work management view</a:t>
            </a:r>
          </a:p>
        </p:txBody>
      </p:sp>
      <p:pic>
        <p:nvPicPr>
          <p:cNvPr id="6" name="Picture 5" descr="a_detailed_dashboard_ui_screenshot_a_dark_high_t.png">
            <a:extLst>
              <a:ext uri="{FF2B5EF4-FFF2-40B4-BE49-F238E27FC236}">
                <a16:creationId xmlns:a16="http://schemas.microsoft.com/office/drawing/2014/main" id="{038A6905-FDD0-6C7D-7F9E-DAA98BF81B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3" b="1103"/>
          <a:stretch>
            <a:fillRect/>
          </a:stretch>
        </p:blipFill>
        <p:spPr>
          <a:xfrm>
            <a:off x="538625" y="1302802"/>
            <a:ext cx="5897880" cy="3246120"/>
          </a:xfrm>
          <a:prstGeom prst="rect">
            <a:avLst/>
          </a:prstGeom>
        </p:spPr>
      </p:pic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31D63EF9-4450-97C8-DC0B-40225410F039}"/>
              </a:ext>
            </a:extLst>
          </p:cNvPr>
          <p:cNvSpPr/>
          <p:nvPr/>
        </p:nvSpPr>
        <p:spPr>
          <a:xfrm>
            <a:off x="611777" y="4713514"/>
            <a:ext cx="2514600" cy="502920"/>
          </a:xfrm>
          <a:prstGeom prst="roundRect">
            <a:avLst/>
          </a:prstGeom>
          <a:solidFill>
            <a:srgbClr val="F3F6F8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660E7-CEF3-6E06-1F69-8CAB88E384B4}"/>
              </a:ext>
            </a:extLst>
          </p:cNvPr>
          <p:cNvSpPr txBox="1"/>
          <p:nvPr/>
        </p:nvSpPr>
        <p:spPr>
          <a:xfrm>
            <a:off x="684929" y="4768378"/>
            <a:ext cx="100584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rgbClr val="009A5E"/>
                </a:solidFill>
                <a:effectLst/>
                <a:uLnTx/>
                <a:uFillTx/>
              </a:rPr>
              <a:t>Availability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4AD59A-F4A0-5D1B-EAD2-7C168C3629AC}"/>
              </a:ext>
            </a:extLst>
          </p:cNvPr>
          <p:cNvSpPr txBox="1"/>
          <p:nvPr/>
        </p:nvSpPr>
        <p:spPr>
          <a:xfrm>
            <a:off x="1526177" y="4731802"/>
            <a:ext cx="15087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Critical airport assets available and serviceable when needed.</a:t>
            </a:r>
          </a:p>
        </p:txBody>
      </p:sp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69FCFA6F-D113-1E34-D4FF-1CFED350C15B}"/>
              </a:ext>
            </a:extLst>
          </p:cNvPr>
          <p:cNvSpPr/>
          <p:nvPr/>
        </p:nvSpPr>
        <p:spPr>
          <a:xfrm>
            <a:off x="3446417" y="4713514"/>
            <a:ext cx="2514600" cy="502920"/>
          </a:xfrm>
          <a:prstGeom prst="roundRect">
            <a:avLst/>
          </a:prstGeom>
          <a:solidFill>
            <a:srgbClr val="F3F6F8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19917-B4E9-61C2-F136-B18AF8112881}"/>
              </a:ext>
            </a:extLst>
          </p:cNvPr>
          <p:cNvSpPr txBox="1"/>
          <p:nvPr/>
        </p:nvSpPr>
        <p:spPr>
          <a:xfrm>
            <a:off x="3519569" y="4768378"/>
            <a:ext cx="100584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rgbClr val="009A5E"/>
                </a:solidFill>
                <a:effectLst/>
                <a:uLnTx/>
                <a:uFillTx/>
              </a:rPr>
              <a:t>MTTR / response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EC883-D2AE-AF70-EC95-3E0FCDBFAD6F}"/>
              </a:ext>
            </a:extLst>
          </p:cNvPr>
          <p:cNvSpPr txBox="1"/>
          <p:nvPr/>
        </p:nvSpPr>
        <p:spPr>
          <a:xfrm>
            <a:off x="4360817" y="4731802"/>
            <a:ext cx="15087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Track acknowledgement, response and restoration time.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E213C710-43E0-C6A8-294E-11D1AD947BA3}"/>
              </a:ext>
            </a:extLst>
          </p:cNvPr>
          <p:cNvSpPr/>
          <p:nvPr/>
        </p:nvSpPr>
        <p:spPr>
          <a:xfrm>
            <a:off x="611777" y="5289586"/>
            <a:ext cx="2514600" cy="502920"/>
          </a:xfrm>
          <a:prstGeom prst="roundRect">
            <a:avLst/>
          </a:prstGeom>
          <a:solidFill>
            <a:srgbClr val="F3F6F8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B14C9-D75B-CE2E-1972-B8AACF5F995A}"/>
              </a:ext>
            </a:extLst>
          </p:cNvPr>
          <p:cNvSpPr txBox="1"/>
          <p:nvPr/>
        </p:nvSpPr>
        <p:spPr>
          <a:xfrm>
            <a:off x="684929" y="5344450"/>
            <a:ext cx="100584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rgbClr val="009A5E"/>
                </a:solidFill>
                <a:effectLst/>
                <a:uLnTx/>
                <a:uFillTx/>
              </a:rPr>
              <a:t>PM compliance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DE7DC-4ADD-A01F-393A-5CCAFE7CE3FC}"/>
              </a:ext>
            </a:extLst>
          </p:cNvPr>
          <p:cNvSpPr txBox="1"/>
          <p:nvPr/>
        </p:nvSpPr>
        <p:spPr>
          <a:xfrm>
            <a:off x="1526177" y="5307873"/>
            <a:ext cx="15087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Ensure preventive tasks are planned and completed on time.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73395D94-98EC-CAA9-65AD-D8765F3573A2}"/>
              </a:ext>
            </a:extLst>
          </p:cNvPr>
          <p:cNvSpPr/>
          <p:nvPr/>
        </p:nvSpPr>
        <p:spPr>
          <a:xfrm>
            <a:off x="3446417" y="5289586"/>
            <a:ext cx="2514600" cy="502920"/>
          </a:xfrm>
          <a:prstGeom prst="roundRect">
            <a:avLst/>
          </a:prstGeom>
          <a:solidFill>
            <a:srgbClr val="F3F6F8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78DCF-833B-E1B3-8C87-68EA87C9BEF8}"/>
              </a:ext>
            </a:extLst>
          </p:cNvPr>
          <p:cNvSpPr txBox="1"/>
          <p:nvPr/>
        </p:nvSpPr>
        <p:spPr>
          <a:xfrm>
            <a:off x="3519569" y="5344450"/>
            <a:ext cx="100584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0" cap="none" spc="0" normalizeH="0" baseline="0" noProof="0">
                <a:ln>
                  <a:noFill/>
                </a:ln>
                <a:solidFill>
                  <a:srgbClr val="009A5E"/>
                </a:solidFill>
                <a:effectLst/>
                <a:uLnTx/>
                <a:uFillTx/>
              </a:rPr>
              <a:t>Backlog / repeat faults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811FB6-5FE5-9DF7-D75A-A9A798814584}"/>
              </a:ext>
            </a:extLst>
          </p:cNvPr>
          <p:cNvSpPr txBox="1"/>
          <p:nvPr/>
        </p:nvSpPr>
        <p:spPr>
          <a:xfrm>
            <a:off x="4360817" y="5307873"/>
            <a:ext cx="150876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Control overdue work orders and recurring failures.</a:t>
            </a:r>
          </a:p>
        </p:txBody>
      </p:sp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23B4C580-830C-F55A-A0D1-418A49757841}"/>
              </a:ext>
            </a:extLst>
          </p:cNvPr>
          <p:cNvSpPr/>
          <p:nvPr/>
        </p:nvSpPr>
        <p:spPr>
          <a:xfrm>
            <a:off x="6783977" y="918754"/>
            <a:ext cx="4800600" cy="20574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4">
            <a:extLst>
              <a:ext uri="{FF2B5EF4-FFF2-40B4-BE49-F238E27FC236}">
                <a16:creationId xmlns:a16="http://schemas.microsoft.com/office/drawing/2014/main" id="{960E525B-E57E-53CB-0BA5-E8C637E8675A}"/>
              </a:ext>
            </a:extLst>
          </p:cNvPr>
          <p:cNvSpPr/>
          <p:nvPr/>
        </p:nvSpPr>
        <p:spPr>
          <a:xfrm>
            <a:off x="6802264" y="937042"/>
            <a:ext cx="476402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FB455-A7EB-E342-3C67-2A2D061AB407}"/>
              </a:ext>
            </a:extLst>
          </p:cNvPr>
          <p:cNvSpPr txBox="1"/>
          <p:nvPr/>
        </p:nvSpPr>
        <p:spPr>
          <a:xfrm>
            <a:off x="6921137" y="982762"/>
            <a:ext cx="45262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Suggested KPI and SLA focus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61B67A-CC9F-2FFF-C735-D3BBA1CB9524}"/>
              </a:ext>
            </a:extLst>
          </p:cNvPr>
          <p:cNvSpPr txBox="1"/>
          <p:nvPr/>
        </p:nvSpPr>
        <p:spPr>
          <a:xfrm>
            <a:off x="6948569" y="1302802"/>
            <a:ext cx="4480560" cy="12344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defTabSz="457200">
              <a:spcAft>
                <a:spcPts val="400"/>
              </a:spcAft>
            </a:pPr>
            <a:r>
              <a:rPr sz="1160" b="1">
                <a:solidFill>
                  <a:srgbClr val="009A5E"/>
                </a:solidFill>
                <a:latin typeface="Calibri"/>
              </a:rPr>
              <a:t>• </a:t>
            </a:r>
            <a:r>
              <a:rPr sz="1160">
                <a:solidFill>
                  <a:srgbClr val="17202A"/>
                </a:solidFill>
                <a:latin typeface="Calibri"/>
              </a:rPr>
              <a:t>Asset availability and serviceability by criticality class</a:t>
            </a:r>
          </a:p>
          <a:p>
            <a:pPr defTabSz="457200">
              <a:spcAft>
                <a:spcPts val="400"/>
              </a:spcAft>
            </a:pPr>
            <a:r>
              <a:rPr sz="1160" b="1">
                <a:solidFill>
                  <a:srgbClr val="009A5E"/>
                </a:solidFill>
                <a:latin typeface="Calibri"/>
              </a:rPr>
              <a:t>• </a:t>
            </a:r>
            <a:r>
              <a:rPr sz="1160">
                <a:solidFill>
                  <a:srgbClr val="17202A"/>
                </a:solidFill>
                <a:latin typeface="Calibri"/>
              </a:rPr>
              <a:t>MTBF, MTTR, critical alarm response time and closure SLA</a:t>
            </a:r>
          </a:p>
          <a:p>
            <a:pPr defTabSz="457200">
              <a:spcAft>
                <a:spcPts val="400"/>
              </a:spcAft>
            </a:pPr>
            <a:r>
              <a:rPr sz="1160" b="1">
                <a:solidFill>
                  <a:srgbClr val="009A5E"/>
                </a:solidFill>
                <a:latin typeface="Calibri"/>
              </a:rPr>
              <a:t>• </a:t>
            </a:r>
            <a:r>
              <a:rPr sz="1160">
                <a:solidFill>
                  <a:srgbClr val="17202A"/>
                </a:solidFill>
                <a:latin typeface="Calibri"/>
              </a:rPr>
              <a:t>PM compliance, preventive backlog and repeat failure rate</a:t>
            </a:r>
          </a:p>
          <a:p>
            <a:pPr defTabSz="457200">
              <a:spcAft>
                <a:spcPts val="400"/>
              </a:spcAft>
            </a:pPr>
            <a:r>
              <a:rPr sz="1160" b="1">
                <a:solidFill>
                  <a:srgbClr val="009A5E"/>
                </a:solidFill>
                <a:latin typeface="Calibri"/>
              </a:rPr>
              <a:t>• </a:t>
            </a:r>
            <a:r>
              <a:rPr sz="1160">
                <a:solidFill>
                  <a:srgbClr val="17202A"/>
                </a:solidFill>
                <a:latin typeface="Calibri"/>
              </a:rPr>
              <a:t>Spare-parts availability and technician productivity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05A7BB2-0060-B632-9C1D-86F58AA705BC}"/>
              </a:ext>
            </a:extLst>
          </p:cNvPr>
          <p:cNvSpPr/>
          <p:nvPr/>
        </p:nvSpPr>
        <p:spPr>
          <a:xfrm>
            <a:off x="6783977" y="3159034"/>
            <a:ext cx="4800600" cy="201168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CE1E5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390A4F5-6BFA-2A9F-47D0-C350DA2A0A34}"/>
              </a:ext>
            </a:extLst>
          </p:cNvPr>
          <p:cNvSpPr/>
          <p:nvPr/>
        </p:nvSpPr>
        <p:spPr>
          <a:xfrm>
            <a:off x="6802264" y="3177322"/>
            <a:ext cx="4764024" cy="310896"/>
          </a:xfrm>
          <a:prstGeom prst="roundRect">
            <a:avLst/>
          </a:prstGeom>
          <a:solidFill>
            <a:srgbClr val="E8F6F1"/>
          </a:solidFill>
          <a:ln w="9525" cap="flat" cmpd="sng" algn="ctr">
            <a:solidFill>
              <a:srgbClr val="E8F6F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A6034F-B948-8DAB-3CEC-1BBE1687333E}"/>
              </a:ext>
            </a:extLst>
          </p:cNvPr>
          <p:cNvSpPr txBox="1"/>
          <p:nvPr/>
        </p:nvSpPr>
        <p:spPr>
          <a:xfrm>
            <a:off x="6921137" y="3223041"/>
            <a:ext cx="452628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Predictive and condition-based maintenance use cases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8BA35D-8BB3-03DE-94AB-79E8CF426B71}"/>
              </a:ext>
            </a:extLst>
          </p:cNvPr>
          <p:cNvSpPr/>
          <p:nvPr/>
        </p:nvSpPr>
        <p:spPr>
          <a:xfrm>
            <a:off x="6976001" y="3543082"/>
            <a:ext cx="118872" cy="118872"/>
          </a:xfrm>
          <a:prstGeom prst="ellipse">
            <a:avLst/>
          </a:prstGeom>
          <a:solidFill>
            <a:srgbClr val="009A5E"/>
          </a:solidFill>
          <a:ln w="9525" cap="flat" cmpd="sng" algn="ctr">
            <a:solidFill>
              <a:srgbClr val="009A5E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2AB14-371D-1603-9D36-BF774D428730}"/>
              </a:ext>
            </a:extLst>
          </p:cNvPr>
          <p:cNvSpPr txBox="1"/>
          <p:nvPr/>
        </p:nvSpPr>
        <p:spPr>
          <a:xfrm>
            <a:off x="7158881" y="3506506"/>
            <a:ext cx="1417320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AGL / PBB / VDGS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C76277-5475-1DD0-90DF-E13507A3082B}"/>
              </a:ext>
            </a:extLst>
          </p:cNvPr>
          <p:cNvSpPr txBox="1"/>
          <p:nvPr/>
        </p:nvSpPr>
        <p:spPr>
          <a:xfrm>
            <a:off x="8521337" y="3506506"/>
            <a:ext cx="2788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Detect abnormal lamp, bridge, docking or controller behaviour before failure.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18B551D-BD2F-A0EE-FF73-0E8C2EFD7F2B}"/>
              </a:ext>
            </a:extLst>
          </p:cNvPr>
          <p:cNvSpPr/>
          <p:nvPr/>
        </p:nvSpPr>
        <p:spPr>
          <a:xfrm>
            <a:off x="6976001" y="3899697"/>
            <a:ext cx="118872" cy="118872"/>
          </a:xfrm>
          <a:prstGeom prst="ellipse">
            <a:avLst/>
          </a:prstGeom>
          <a:solidFill>
            <a:srgbClr val="4083C9"/>
          </a:solidFill>
          <a:ln w="9525" cap="flat" cmpd="sng" algn="ctr">
            <a:solidFill>
              <a:srgbClr val="4083C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B54684-7756-C17D-FC69-D5F384234F3D}"/>
              </a:ext>
            </a:extLst>
          </p:cNvPr>
          <p:cNvSpPr txBox="1"/>
          <p:nvPr/>
        </p:nvSpPr>
        <p:spPr>
          <a:xfrm>
            <a:off x="7158881" y="3863122"/>
            <a:ext cx="1417320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BHS / FIDS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0D00C4-5F94-02BF-AD01-2DC09DFA4EAB}"/>
              </a:ext>
            </a:extLst>
          </p:cNvPr>
          <p:cNvSpPr txBox="1"/>
          <p:nvPr/>
        </p:nvSpPr>
        <p:spPr>
          <a:xfrm>
            <a:off x="8521337" y="3863122"/>
            <a:ext cx="2788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Predict conveyor motor issues, jam conditions and support faster terminal recovery.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8D8807-CB1A-B6F6-C40E-58AB9EB35DDA}"/>
              </a:ext>
            </a:extLst>
          </p:cNvPr>
          <p:cNvSpPr/>
          <p:nvPr/>
        </p:nvSpPr>
        <p:spPr>
          <a:xfrm>
            <a:off x="6976001" y="4256314"/>
            <a:ext cx="118872" cy="118872"/>
          </a:xfrm>
          <a:prstGeom prst="ellipse">
            <a:avLst/>
          </a:prstGeom>
          <a:solidFill>
            <a:srgbClr val="F5BC42"/>
          </a:solidFill>
          <a:ln w="9525" cap="flat" cmpd="sng" algn="ctr">
            <a:solidFill>
              <a:srgbClr val="F5BC4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57B687-CEB3-0DAA-D49E-22F122B348EE}"/>
              </a:ext>
            </a:extLst>
          </p:cNvPr>
          <p:cNvSpPr txBox="1"/>
          <p:nvPr/>
        </p:nvSpPr>
        <p:spPr>
          <a:xfrm>
            <a:off x="7158881" y="4219738"/>
            <a:ext cx="1417320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BMS / HVAC / Water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3E047B-1F90-1014-88AE-246605FEB9BC}"/>
              </a:ext>
            </a:extLst>
          </p:cNvPr>
          <p:cNvSpPr txBox="1"/>
          <p:nvPr/>
        </p:nvSpPr>
        <p:spPr>
          <a:xfrm>
            <a:off x="8521337" y="4219738"/>
            <a:ext cx="2788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Identify pump, chiller, AHU and water-treatment degradation early.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160C4A0-9118-D0F2-2B07-246063B2F9BF}"/>
              </a:ext>
            </a:extLst>
          </p:cNvPr>
          <p:cNvSpPr/>
          <p:nvPr/>
        </p:nvSpPr>
        <p:spPr>
          <a:xfrm>
            <a:off x="6976001" y="4612930"/>
            <a:ext cx="118872" cy="118872"/>
          </a:xfrm>
          <a:prstGeom prst="ellipse">
            <a:avLst/>
          </a:prstGeom>
          <a:solidFill>
            <a:srgbClr val="D64C49"/>
          </a:solidFill>
          <a:ln w="9525" cap="flat" cmpd="sng" algn="ctr">
            <a:solidFill>
              <a:srgbClr val="D64C4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B6DA04-7BFC-3934-7533-3B78991EE08C}"/>
              </a:ext>
            </a:extLst>
          </p:cNvPr>
          <p:cNvSpPr txBox="1"/>
          <p:nvPr/>
        </p:nvSpPr>
        <p:spPr>
          <a:xfrm>
            <a:off x="7158881" y="4576354"/>
            <a:ext cx="1417320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19" b="1" i="0" u="none" strike="noStrike" kern="0" cap="none" spc="0" normalizeH="0" baseline="0" noProof="0">
                <a:ln>
                  <a:noFill/>
                </a:ln>
                <a:solidFill>
                  <a:srgbClr val="17202A"/>
                </a:solidFill>
                <a:effectLst/>
                <a:uLnTx/>
                <a:uFillTx/>
              </a:rPr>
              <a:t>UPS / DG / CCTV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570F7D-E130-7925-7954-32A50F6F97E6}"/>
              </a:ext>
            </a:extLst>
          </p:cNvPr>
          <p:cNvSpPr txBox="1"/>
          <p:nvPr/>
        </p:nvSpPr>
        <p:spPr>
          <a:xfrm>
            <a:off x="8521337" y="4576354"/>
            <a:ext cx="278892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0" i="0" u="none" strike="noStrike" kern="0" cap="none" spc="0" normalizeH="0" baseline="0" noProof="0">
                <a:ln>
                  <a:noFill/>
                </a:ln>
                <a:solidFill>
                  <a:srgbClr val="586069"/>
                </a:solidFill>
                <a:effectLst/>
                <a:uLnTx/>
                <a:uFillTx/>
              </a:rPr>
              <a:t>Monitor battery health, start readiness, recording health and communications.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D46CBA7-263E-5785-2C5F-1CF4597C0978}"/>
              </a:ext>
            </a:extLst>
          </p:cNvPr>
          <p:cNvSpPr/>
          <p:nvPr/>
        </p:nvSpPr>
        <p:spPr>
          <a:xfrm>
            <a:off x="6783977" y="5426746"/>
            <a:ext cx="4800600" cy="621792"/>
          </a:xfrm>
          <a:prstGeom prst="roundRect">
            <a:avLst/>
          </a:prstGeom>
          <a:solidFill>
            <a:srgbClr val="EBF8F2"/>
          </a:solidFill>
          <a:ln w="9525" cap="flat" cmpd="sng" algn="ctr">
            <a:solidFill>
              <a:srgbClr val="EBF8F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D7A4D7-387C-BB75-90CC-1097CE10DF44}"/>
              </a:ext>
            </a:extLst>
          </p:cNvPr>
          <p:cNvSpPr txBox="1"/>
          <p:nvPr/>
        </p:nvSpPr>
        <p:spPr>
          <a:xfrm>
            <a:off x="6966857" y="5600482"/>
            <a:ext cx="443484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30" b="1" i="0" u="none" strike="noStrike" kern="0" cap="none" spc="0" normalizeH="0" baseline="0" noProof="0">
                <a:ln>
                  <a:noFill/>
                </a:ln>
                <a:solidFill>
                  <a:srgbClr val="009A5E"/>
                </a:solidFill>
                <a:effectLst/>
                <a:uLnTx/>
                <a:uFillTx/>
              </a:rPr>
              <a:t>Expected benefit: lower downtime, better SLA compliance, stronger asset reliability and more disciplined lifecycle management.</a:t>
            </a:r>
          </a:p>
        </p:txBody>
      </p:sp>
    </p:spTree>
    <p:extLst>
      <p:ext uri="{BB962C8B-B14F-4D97-AF65-F5344CB8AC3E}">
        <p14:creationId xmlns:p14="http://schemas.microsoft.com/office/powerpoint/2010/main" val="2283145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CB439-37DF-3AF2-409C-B24A1F88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F9E60338-31F6-E705-933F-535790FAE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23" name="Shape 19">
            <a:extLst>
              <a:ext uri="{FF2B5EF4-FFF2-40B4-BE49-F238E27FC236}">
                <a16:creationId xmlns:a16="http://schemas.microsoft.com/office/drawing/2014/main" id="{4093FEB2-B827-6092-FC7C-A1DCF467E526}"/>
              </a:ext>
            </a:extLst>
          </p:cNvPr>
          <p:cNvSpPr/>
          <p:nvPr/>
        </p:nvSpPr>
        <p:spPr>
          <a:xfrm>
            <a:off x="340360" y="244856"/>
            <a:ext cx="73152" cy="76809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F3A3D24-1C2D-07C2-7417-1203AFC016A8}"/>
              </a:ext>
            </a:extLst>
          </p:cNvPr>
          <p:cNvSpPr/>
          <p:nvPr/>
        </p:nvSpPr>
        <p:spPr>
          <a:xfrm>
            <a:off x="504952" y="2174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Future-ready AI foundation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531AB6B-D069-976B-8A01-57B36A7232BD}"/>
              </a:ext>
            </a:extLst>
          </p:cNvPr>
          <p:cNvSpPr/>
          <p:nvPr/>
        </p:nvSpPr>
        <p:spPr>
          <a:xfrm>
            <a:off x="504952" y="487054"/>
            <a:ext cx="1112363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Connected data supports KPI governance, predictive insights and better planning. AI foundation will be able to suggest energy , water saving strategies and also asset failure predication to reduce the operational costs </a:t>
            </a: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20B1AF96-ED8D-62E3-DF4B-A218C9E227AB}"/>
              </a:ext>
            </a:extLst>
          </p:cNvPr>
          <p:cNvSpPr/>
          <p:nvPr/>
        </p:nvSpPr>
        <p:spPr>
          <a:xfrm>
            <a:off x="4892040" y="6199632"/>
            <a:ext cx="68122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CB40C65-F278-B1D1-9514-A7F9FC68178B}"/>
              </a:ext>
            </a:extLst>
          </p:cNvPr>
          <p:cNvSpPr/>
          <p:nvPr/>
        </p:nvSpPr>
        <p:spPr>
          <a:xfrm>
            <a:off x="4892040" y="6309360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Benefits are indicative and depend on data availability, integration readiness and vendor support.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F51EED-4B60-E147-EF2B-0B2B8EEDD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35" y="1012952"/>
            <a:ext cx="5357487" cy="26043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81DD83-4909-91CA-ACC9-A93A935DA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936" y="3766474"/>
            <a:ext cx="5357486" cy="28741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40207E-B0BC-5087-49F7-23555F08234F}"/>
              </a:ext>
            </a:extLst>
          </p:cNvPr>
          <p:cNvSpPr txBox="1"/>
          <p:nvPr/>
        </p:nvSpPr>
        <p:spPr>
          <a:xfrm>
            <a:off x="6096000" y="1025519"/>
            <a:ext cx="53652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AI root-cause analysis diagnosing condenser tube fouling in Building management from insufficient water treatment, quantifying cost impact and failure risk, with actionable cleaning and water-treatment recommendations.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69354-BEA5-FAD0-7BA6-D7308DDFFFDB}"/>
              </a:ext>
            </a:extLst>
          </p:cNvPr>
          <p:cNvSpPr txBox="1"/>
          <p:nvPr/>
        </p:nvSpPr>
        <p:spPr>
          <a:xfrm>
            <a:off x="6177249" y="3766474"/>
            <a:ext cx="52027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AI-detected optimization opportunities across facilities: HVAC duct leakage at the Manufacturing Unit and underused lighting sensors at Office Complex , each with confidence scores and a one-click workflow/work-order action.</a:t>
            </a:r>
          </a:p>
        </p:txBody>
      </p:sp>
    </p:spTree>
    <p:extLst>
      <p:ext uri="{BB962C8B-B14F-4D97-AF65-F5344CB8AC3E}">
        <p14:creationId xmlns:p14="http://schemas.microsoft.com/office/powerpoint/2010/main" val="2864578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4CDFB-2DD7-1903-30FD-AE19FC6AE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mnt/data/ppt_media/ppt/media/image12.png">
            <a:extLst>
              <a:ext uri="{FF2B5EF4-FFF2-40B4-BE49-F238E27FC236}">
                <a16:creationId xmlns:a16="http://schemas.microsoft.com/office/drawing/2014/main" id="{607983A4-9657-A184-B9F8-96BADCF16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89" y="6409944"/>
            <a:ext cx="1593944" cy="438912"/>
          </a:xfrm>
          <a:prstGeom prst="rect">
            <a:avLst/>
          </a:prstGeom>
        </p:spPr>
      </p:pic>
      <p:sp>
        <p:nvSpPr>
          <p:cNvPr id="23" name="Shape 19">
            <a:extLst>
              <a:ext uri="{FF2B5EF4-FFF2-40B4-BE49-F238E27FC236}">
                <a16:creationId xmlns:a16="http://schemas.microsoft.com/office/drawing/2014/main" id="{4314224C-FA72-17BA-E319-2843883DA33B}"/>
              </a:ext>
            </a:extLst>
          </p:cNvPr>
          <p:cNvSpPr/>
          <p:nvPr/>
        </p:nvSpPr>
        <p:spPr>
          <a:xfrm>
            <a:off x="340360" y="244856"/>
            <a:ext cx="73152" cy="768096"/>
          </a:xfrm>
          <a:prstGeom prst="rect">
            <a:avLst/>
          </a:prstGeom>
          <a:solidFill>
            <a:srgbClr val="00B14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CE175FD-C67B-FC19-713E-AA33CFB5F871}"/>
              </a:ext>
            </a:extLst>
          </p:cNvPr>
          <p:cNvSpPr/>
          <p:nvPr/>
        </p:nvSpPr>
        <p:spPr>
          <a:xfrm>
            <a:off x="504952" y="2174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Future-ready AI foundation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78734511-9552-77E8-C50D-0B0B1F16B556}"/>
              </a:ext>
            </a:extLst>
          </p:cNvPr>
          <p:cNvSpPr/>
          <p:nvPr/>
        </p:nvSpPr>
        <p:spPr>
          <a:xfrm>
            <a:off x="504952" y="487054"/>
            <a:ext cx="1112363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350" b="0" i="0" u="none" strike="noStrike" kern="1200" cap="none" spc="0" normalizeH="0" baseline="0" noProof="0" dirty="0">
                <a:ln>
                  <a:noFill/>
                </a:ln>
                <a:solidFill>
                  <a:srgbClr val="5B677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Connected data supports KPI governance, predictive insights and better planning. AI foundation will be able to suggest energy , water saving strategies and also asset failure predication to reduce the operational costs </a:t>
            </a: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69050179-A6FA-FE89-6F2C-760FA00A5C3F}"/>
              </a:ext>
            </a:extLst>
          </p:cNvPr>
          <p:cNvSpPr/>
          <p:nvPr/>
        </p:nvSpPr>
        <p:spPr>
          <a:xfrm>
            <a:off x="4892040" y="6199632"/>
            <a:ext cx="6812280" cy="914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62955C57-471C-27B0-8194-E0CD33E6E8DB}"/>
              </a:ext>
            </a:extLst>
          </p:cNvPr>
          <p:cNvSpPr/>
          <p:nvPr/>
        </p:nvSpPr>
        <p:spPr>
          <a:xfrm>
            <a:off x="4892040" y="6309360"/>
            <a:ext cx="6812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7A7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Benefits are indicative and depend on data availability, integration readiness and vendor support.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8522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1588</Words>
  <Application>Microsoft Office PowerPoint</Application>
  <PresentationFormat>Widescreen</PresentationFormat>
  <Paragraphs>155</Paragraphs>
  <Slides>19</Slides>
  <Notes>19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Sayaji Shinde</dc:creator>
  <cp:lastModifiedBy>Sayaji Shinde</cp:lastModifiedBy>
  <cp:revision>15</cp:revision>
  <dcterms:created xsi:type="dcterms:W3CDTF">2026-08-07T07:10:15Z</dcterms:created>
  <dcterms:modified xsi:type="dcterms:W3CDTF">2026-09-07T10:03:19Z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1_Office Theme:3</vt:lpwstr>
  </property>
  <property fmtid="{D5CDD505-2E9C-101B-9397-08002B2CF9AE}" pid="3" name="ClassificationContentMarkingFooterText">
    <vt:lpwstr>General</vt:lpwstr>
  </property>
</Properties>
</file>